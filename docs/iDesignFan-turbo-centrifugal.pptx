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5" r:id="rId2"/>
    <p:sldId id="256" r:id="rId3"/>
    <p:sldId id="257" r:id="rId4"/>
    <p:sldId id="258" r:id="rId5"/>
    <p:sldId id="260" r:id="rId6"/>
    <p:sldId id="261" r:id="rId7"/>
    <p:sldId id="262" r:id="rId8"/>
    <p:sldId id="265" r:id="rId9"/>
    <p:sldId id="266" r:id="rId10"/>
    <p:sldId id="268" r:id="rId11"/>
    <p:sldId id="400" r:id="rId100"/>
    <p:sldId id="401" r:id="rId101"/>
    <p:sldId id="402" r:id="rId102"/>
    <p:sldId id="403" r:id="rId103"/>
    <p:sldId id="404" r:id="rId104"/>
    <p:sldId id="405" r:id="rId105"/>
    <p:sldId id="406" r:id="rId106"/>
    <p:sldId id="407" r:id="rId107"/>
    <p:sldId id="408" r:id="rId10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AC0"/>
    <a:srgbClr val="433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8" autoAdjust="0"/>
    <p:restoredTop sz="95728" autoAdjust="0"/>
  </p:normalViewPr>
  <p:slideViewPr>
    <p:cSldViewPr snapToGrid="0">
      <p:cViewPr varScale="1">
        <p:scale>
          <a:sx n="104" d="100"/>
          <a:sy n="104" d="100"/>
        </p:scale>
        <p:origin x="8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00" Type="http://schemas.openxmlformats.org/officeDocument/2006/relationships/slide" Target="slides/slide11.xml"/><Relationship Id="rId101" Type="http://schemas.openxmlformats.org/officeDocument/2006/relationships/slide" Target="slides/slide12.xml"/><Relationship Id="rId102" Type="http://schemas.openxmlformats.org/officeDocument/2006/relationships/slide" Target="slides/slide13.xml"/><Relationship Id="rId103" Type="http://schemas.openxmlformats.org/officeDocument/2006/relationships/slide" Target="slides/slide14.xml"/><Relationship Id="rId104" Type="http://schemas.openxmlformats.org/officeDocument/2006/relationships/slide" Target="slides/slide15.xml"/><Relationship Id="rId105" Type="http://schemas.openxmlformats.org/officeDocument/2006/relationships/slide" Target="slides/slide16.xml"/><Relationship Id="rId106" Type="http://schemas.openxmlformats.org/officeDocument/2006/relationships/slide" Target="slides/slide17.xml"/><Relationship Id="rId107" Type="http://schemas.openxmlformats.org/officeDocument/2006/relationships/slide" Target="slides/slide18.xml"/><Relationship Id="rId108" Type="http://schemas.openxmlformats.org/officeDocument/2006/relationships/slide" Target="slides/slide1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615708530023181"/>
          <c:y val="6.0606060606060608E-2"/>
          <c:w val="0.81420083627838913"/>
          <c:h val="0.8218291290869183"/>
        </c:manualLayout>
      </c:layout>
      <c:scatterChart>
        <c:scatterStyle val="lineMarker"/>
        <c:varyColors val="0"/>
        <c:ser>
          <c:idx val="0"/>
          <c:order val="0"/>
          <c:tx>
            <c:v>0.98</c:v>
          </c:tx>
          <c:spPr>
            <a:ln w="19050" cap="rnd">
              <a:solidFill>
                <a:schemeClr val="accent1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Sheet1!$C$10:$C$20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Sheet1!$D$10:$D$20</c:f>
              <c:numCache>
                <c:formatCode>0.0000</c:formatCode>
                <c:ptCount val="11"/>
                <c:pt idx="0">
                  <c:v>19.344999999999999</c:v>
                </c:pt>
                <c:pt idx="1">
                  <c:v>16.945599999999999</c:v>
                </c:pt>
                <c:pt idx="2">
                  <c:v>15.037000000000001</c:v>
                </c:pt>
                <c:pt idx="3">
                  <c:v>13.485300000000001</c:v>
                </c:pt>
                <c:pt idx="4">
                  <c:v>12.1976</c:v>
                </c:pt>
                <c:pt idx="5">
                  <c:v>11.108599999999999</c:v>
                </c:pt>
                <c:pt idx="6">
                  <c:v>10.1716</c:v>
                </c:pt>
                <c:pt idx="7">
                  <c:v>9.3515999999999995</c:v>
                </c:pt>
                <c:pt idx="8">
                  <c:v>8.6217000000000006</c:v>
                </c:pt>
                <c:pt idx="9">
                  <c:v>7.9587000000000003</c:v>
                </c:pt>
                <c:pt idx="10">
                  <c:v>7.3268000000000004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AF-4856-BDE5-F5CDEAACFDCF}"/>
            </c:ext>
          </c:extLst>
        </c:ser>
        <c:ser>
          <c:idx val="1"/>
          <c:order val="1"/>
          <c:tx>
            <c:v>1</c:v>
          </c:tx>
          <c:spPr>
            <a:ln w="1905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Sheet1!$C$10:$C$20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Sheet1!$E$10:$E$20</c:f>
              <c:numCache>
                <c:formatCode>0.0000</c:formatCode>
                <c:ptCount val="11"/>
                <c:pt idx="0">
                  <c:v>17.1526</c:v>
                </c:pt>
                <c:pt idx="1">
                  <c:v>15.5848</c:v>
                </c:pt>
                <c:pt idx="2">
                  <c:v>14.2455</c:v>
                </c:pt>
                <c:pt idx="3">
                  <c:v>13.087</c:v>
                </c:pt>
                <c:pt idx="4">
                  <c:v>12.0726</c:v>
                </c:pt>
                <c:pt idx="5">
                  <c:v>11.174200000000001</c:v>
                </c:pt>
                <c:pt idx="6">
                  <c:v>10.369300000000001</c:v>
                </c:pt>
                <c:pt idx="7">
                  <c:v>9.6397999999999993</c:v>
                </c:pt>
                <c:pt idx="8">
                  <c:v>8.9702000000000002</c:v>
                </c:pt>
                <c:pt idx="9">
                  <c:v>8.3447999999999993</c:v>
                </c:pt>
                <c:pt idx="10">
                  <c:v>7.7324000000000002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1AF-4856-BDE5-F5CDEAACFDCF}"/>
            </c:ext>
          </c:extLst>
        </c:ser>
        <c:ser>
          <c:idx val="2"/>
          <c:order val="2"/>
          <c:tx>
            <c:v>1.1</c:v>
          </c:tx>
          <c:spPr>
            <a:ln w="19050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Sheet1!$C$10:$C$20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Sheet1!$F$10:$F$20</c:f>
              <c:numCache>
                <c:formatCode>0.0000</c:formatCode>
                <c:ptCount val="11"/>
                <c:pt idx="0">
                  <c:v>11.729699999999999</c:v>
                </c:pt>
                <c:pt idx="1">
                  <c:v>11.545999999999999</c:v>
                </c:pt>
                <c:pt idx="2">
                  <c:v>11.3911</c:v>
                </c:pt>
                <c:pt idx="3">
                  <c:v>11.265599999999999</c:v>
                </c:pt>
                <c:pt idx="4">
                  <c:v>11.1708</c:v>
                </c:pt>
                <c:pt idx="5">
                  <c:v>11.1083</c:v>
                </c:pt>
                <c:pt idx="6">
                  <c:v>11.0806</c:v>
                </c:pt>
                <c:pt idx="7">
                  <c:v>11.0905</c:v>
                </c:pt>
                <c:pt idx="8">
                  <c:v>11.1411</c:v>
                </c:pt>
                <c:pt idx="9">
                  <c:v>11.2339</c:v>
                </c:pt>
                <c:pt idx="10">
                  <c:v>11.3459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1AF-4856-BDE5-F5CDEAACFD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266288"/>
        <c:axId val="1523088879"/>
      </c:scatterChart>
      <c:valAx>
        <c:axId val="812662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3088879"/>
        <c:crosses val="autoZero"/>
        <c:crossBetween val="midCat"/>
      </c:valAx>
      <c:valAx>
        <c:axId val="1523088879"/>
        <c:scaling>
          <c:orientation val="minMax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sz="1200" dirty="0"/>
                  <a:t>ß2b [ ° ]</a:t>
                </a:r>
                <a:endParaRPr lang="ko-KR" altLang="en-US" sz="1200" dirty="0"/>
              </a:p>
            </c:rich>
          </c:tx>
          <c:layout>
            <c:manualLayout>
              <c:xMode val="edge"/>
              <c:yMode val="edge"/>
              <c:x val="1.3344898411303738E-3"/>
              <c:y val="3.6788314504165247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0.0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2662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03230643547603"/>
          <c:y val="6.6305146639278792E-2"/>
          <c:w val="0.17680380397686998"/>
          <c:h val="0.25243319055732072"/>
        </c:manualLayout>
      </c:layout>
      <c:overlay val="0"/>
      <c:spPr>
        <a:solidFill>
          <a:sysClr val="window" lastClr="FFFFFF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4EE66-E88D-4FA7-83FE-2997D4BFFDE8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E6C32-7822-4492-B181-4E3DCB1617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624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437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554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D418-E112-B708-3CAC-18CE7F4EE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3E9D6A-519D-929C-6CF3-5C555F24D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E10E4A-780B-E41B-6AFC-CDB9D2E10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AF365B-3075-A9F4-C61B-DBC250632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4AA2-08DA-17F6-3A29-A85122DC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CE70C1-EB26-1988-2FE5-9A13A5B48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E2AA89-8CFF-3D10-C196-D77D30139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A531D6-97D9-E33C-7945-B64CDB016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927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9F84-9EAA-0597-785D-CA892778F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12D949-16F5-463D-EDE7-C9FD86B7B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E1A8CC-A92B-9DCC-91E3-8577409BE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47DA6-C095-F73B-7F20-9AA0AAF33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056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BBDD7-A7F1-CE14-5C79-C42C31C8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31C728-365D-395A-B42F-7021BB60E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DCD537-0283-A086-CB55-EB249AB67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968B4F-9E87-EC45-1EAB-CCDDD8683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690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2FFEE-CCAB-B777-0AA2-FF8D82851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799737-A354-B4E1-7C43-94B027B7C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74E754-44FC-4F93-F033-1C33E882B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C8BB72-9F42-1DA4-84AD-4F7078D28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168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AD30B-7B23-29B3-1EB3-70EFD811A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1E097F-41BB-764D-5F9C-F90F3A38E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AFDE9C-E167-8D0F-3EDD-17FA20CD1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FCD11C-8D7F-8855-826D-7DE0A33EC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72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7B20C-6C2E-714E-EC41-0C91E37C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804860-58D8-2D6E-06C3-EF9FB8FBD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A49D3A-1E9E-9A47-FD9F-9FFBF0743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57FDA9-F946-E442-6BA5-6A9513938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16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7608-FAE7-5C8D-6716-C7969CF7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D09C8F-640C-F7CC-7480-BEADB69B1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38670A-CCC1-8F38-7377-F587966EA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D3B6F2-2D31-5590-406D-531E8C697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849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EB47-DA29-7C1A-1004-7CA7BDA9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F1FDB5-0B71-5773-D777-97F3344FC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B33C17-8D7B-3183-53FF-D86108C94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D78B4-1020-C23B-8DE5-F40EBFF00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887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39D5-FFEB-4A10-F7A9-2258D5B98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C8EBCC-AF4F-9E5F-ED7F-E11BE4BCA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3BF5AD-DEC4-AB76-E413-6A332D15B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089AF-AE47-7D7B-F604-A6166A1D2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51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15A8-30DC-FE85-7F34-E8EE5CAC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5270D6-BC56-ED62-C863-38C6204EB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7D64A6-7DE3-D04D-3803-76B7F8E62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25D86-AD45-F825-C029-17DDDDFDB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707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FB56-D172-279C-A2F1-404B10EE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ABD52A-E3A3-5DAB-0FEB-065156727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49C0B3-BC20-83C2-98B2-2579518EC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0817C-624E-641A-562B-3D1B9EA64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3938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FB56-D172-279C-A2F1-404B10EE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ABD52A-E3A3-5DAB-0FEB-065156727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49C0B3-BC20-83C2-98B2-2579518EC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0817C-624E-641A-562B-3D1B9EA64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E6C32-7822-4492-B181-4E3DCB16175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393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02E28-713C-4B58-4626-99ABA5686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F82D53-417C-CDC4-6334-0D35257D1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2418F-C8EA-8CC4-A550-B6A77C12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196E0C-14C6-2657-80D3-F81FBAF3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3007CA-1C07-3B49-C8D5-9F3D17A8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8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28243-5623-5C44-CEA4-49E8991B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9C8C1C-02F4-5DD5-07A8-DF7CD2C97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3CA13-3AE9-18A2-76B3-9DE56674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C58E3-2C83-B694-3641-67A8CA6D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0E17C9-ED4C-1CE7-38AF-BE77C211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84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FBDEB-96FC-D72E-407B-048E626E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AC2D9C-AF67-4335-2256-12478BF07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044E6C-F5A9-A41D-BB8B-657B5BDA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207AD2-0EFA-6D8D-55FD-77B4CCCE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2A83A-0424-E717-EE3C-837DF6FA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59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E3243-DB39-1414-AA29-02D87437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ECC07C-4F0A-E4D6-77B8-5BDE14C37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2AFBEB-821A-71D1-F10B-6E050751F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A2C546-37AE-2A18-516B-5D11984B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B7E805-99F9-5FB7-7ADB-46BF41C28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86982B-AC98-2B21-1BCD-04BE7AA2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89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C63C1-ECCA-BD8A-AC94-16452AC1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C89B90-ADD8-D6B0-6AD1-A6AC88A2F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C56A50-505D-0EA1-C64B-B1C6ADFEE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B0A2C9-CA93-B913-1743-1A3AAF79B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4ABBA5-8D67-7C01-9AED-095A610EB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99BA1F-4A11-245A-0C69-ADA94EA6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573010-6CDA-E509-18F6-E5AA7221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5F7D0D-6A9F-EF06-90EB-EAC08B0B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2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5D67E-B7B4-F03D-6C52-5F98785F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DB8781-4471-3DAB-4530-7A8D2D36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19965A-00BA-6677-B5FF-B03EC95E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90EE51-6CE5-E8FF-6D2B-9C7F52B8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5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555547-4955-7188-7120-45F2FE34A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7B7C928-069B-400E-C5AE-54D826CD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547B75-53A1-DF2C-60AE-F02B73AC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82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8579C-BBF4-71BC-3924-ADD7BE00A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0D47CE-595F-F76C-5817-4C8A49BC7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9B0765-5197-F9F4-F09F-DB9E27630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77A17-F17C-E97D-F49C-F0E9079DE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250D25-50E1-5A11-8A47-0CC9DE00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EBF835-E1B1-0E83-14EC-59D7C0F8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814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6E088-CB29-A677-E0DA-384FD9A4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8FC0AA-9E91-B127-127C-C91006F97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A2CC90-07D9-DBA2-3826-5B4A443BE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242FA2-26DA-FBDD-9AA0-99FB9B45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242D3F-2F25-ADD5-75CA-DB435C15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5CA263-DF21-0FCD-0095-4BACEB732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95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082841-31A0-FD96-3E70-9E923544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E4B701-F9CF-C577-E4E8-176814E69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3C4440-4864-900A-84D2-33D93D56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FB9AD1-A4DA-7741-B529-C8E77D8D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E0A4A2-A628-5D0B-6B0E-22EB165A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5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EF390C-F2A2-AE98-F8AC-4B6C38C6B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71D965-D56D-558D-E43C-530965DF8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A581D-3BD9-5468-4D63-E07BA0F9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17EE0F-32C4-A7F4-6928-7CCE1963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DD7667-F335-41D7-7549-A768E3C5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17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9E32F1-11F2-B0F0-A415-DE92009D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EF5AD-D648-232E-B6B9-5F1A9583A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AF0FDD-C1F4-017D-51C6-347B05FFC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05C48-52BA-43C6-B16B-DA6820DE9FE9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BF523-2094-ADD2-F499-976863349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D325BA-D502-A674-EA10-9496FE9C8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3BADA-423B-4673-8E5F-5E4B37C39F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1DD088-370F-9079-4617-5A68D3FE766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94036" y="6492875"/>
            <a:ext cx="1997964" cy="35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openxmlformats.org/officeDocument/2006/relationships/image" Target="../media/image22.pn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13" Type="http://schemas.openxmlformats.org/officeDocument/2006/relationships/image" Target="../media/image41.jpeg"/><Relationship Id="rId18" Type="http://schemas.openxmlformats.org/officeDocument/2006/relationships/image" Target="../media/image46.jpeg"/><Relationship Id="rId26" Type="http://schemas.openxmlformats.org/officeDocument/2006/relationships/image" Target="../media/image54.png"/><Relationship Id="rId3" Type="http://schemas.openxmlformats.org/officeDocument/2006/relationships/image" Target="../media/image31.jpeg"/><Relationship Id="rId21" Type="http://schemas.openxmlformats.org/officeDocument/2006/relationships/image" Target="../media/image49.png"/><Relationship Id="rId7" Type="http://schemas.openxmlformats.org/officeDocument/2006/relationships/image" Target="../media/image35.jpeg"/><Relationship Id="rId12" Type="http://schemas.openxmlformats.org/officeDocument/2006/relationships/image" Target="../media/image40.jpeg"/><Relationship Id="rId17" Type="http://schemas.openxmlformats.org/officeDocument/2006/relationships/image" Target="../media/image45.jpeg"/><Relationship Id="rId25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jpe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11" Type="http://schemas.openxmlformats.org/officeDocument/2006/relationships/image" Target="../media/image39.jpeg"/><Relationship Id="rId24" Type="http://schemas.openxmlformats.org/officeDocument/2006/relationships/image" Target="../media/image52.png"/><Relationship Id="rId5" Type="http://schemas.openxmlformats.org/officeDocument/2006/relationships/image" Target="../media/image33.jpeg"/><Relationship Id="rId15" Type="http://schemas.openxmlformats.org/officeDocument/2006/relationships/image" Target="../media/image43.jpe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10" Type="http://schemas.openxmlformats.org/officeDocument/2006/relationships/image" Target="../media/image38.jpeg"/><Relationship Id="rId19" Type="http://schemas.openxmlformats.org/officeDocument/2006/relationships/image" Target="../media/image47.jpeg"/><Relationship Id="rId4" Type="http://schemas.openxmlformats.org/officeDocument/2006/relationships/image" Target="../media/image32.jpeg"/><Relationship Id="rId9" Type="http://schemas.openxmlformats.org/officeDocument/2006/relationships/image" Target="../media/image37.jpeg"/><Relationship Id="rId14" Type="http://schemas.openxmlformats.org/officeDocument/2006/relationships/image" Target="../media/image42.jpeg"/><Relationship Id="rId22" Type="http://schemas.openxmlformats.org/officeDocument/2006/relationships/image" Target="../media/image50.png"/><Relationship Id="rId27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q_image6.png"/><Relationship Id="rId3" Type="http://schemas.openxmlformats.org/officeDocument/2006/relationships/image" Target="../media/q_image1.png"/><Relationship Id="rId7" Type="http://schemas.openxmlformats.org/officeDocument/2006/relationships/image" Target="../media/q_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q_image4.png"/><Relationship Id="rId5" Type="http://schemas.openxmlformats.org/officeDocument/2006/relationships/image" Target="../media/q_image3.png"/><Relationship Id="rId4" Type="http://schemas.openxmlformats.org/officeDocument/2006/relationships/image" Target="../media/q_image2.png"/><Relationship Id="rId9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q_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q_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q_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q_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q_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q_image13.png"/><Relationship Id="rId4" Type="http://schemas.openxmlformats.org/officeDocument/2006/relationships/image" Target="../media/q_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q_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q_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q_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q_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q_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q_image21.png"/><Relationship Id="rId5" Type="http://schemas.openxmlformats.org/officeDocument/2006/relationships/image" Target="../media/q_image20.png"/><Relationship Id="rId4" Type="http://schemas.openxmlformats.org/officeDocument/2006/relationships/image" Target="../media/q_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q_image27.jpeg"/><Relationship Id="rId3" Type="http://schemas.openxmlformats.org/officeDocument/2006/relationships/image" Target="../media/q_image22.png"/><Relationship Id="rId7" Type="http://schemas.openxmlformats.org/officeDocument/2006/relationships/image" Target="../media/q_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q_image25.jpeg"/><Relationship Id="rId5" Type="http://schemas.openxmlformats.org/officeDocument/2006/relationships/image" Target="../media/q_image24.jpeg"/><Relationship Id="rId10" Type="http://schemas.openxmlformats.org/officeDocument/2006/relationships/image" Target="../media/q_image29.png"/><Relationship Id="rId4" Type="http://schemas.openxmlformats.org/officeDocument/2006/relationships/image" Target="../media/q_image23.png"/><Relationship Id="rId9" Type="http://schemas.openxmlformats.org/officeDocument/2006/relationships/image" Target="../media/q_image2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1C38"/>
              </a:gs>
              <a:gs pos="55000">
                <a:srgbClr val="0F2B52"/>
              </a:gs>
              <a:gs pos="100000">
                <a:srgbClr val="1A4478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circle801"/>
          <p:cNvSpPr/>
          <p:nvPr/>
        </p:nvSpPr>
        <p:spPr>
          <a:xfrm>
            <a:off x="8382000" y="228600"/>
            <a:ext cx="6400800" cy="6400800"/>
          </a:xfrm>
          <a:prstGeom prst="ellipse">
            <a:avLst/>
          </a:prstGeom>
          <a:noFill/>
          <a:ln w="28575">
            <a:solidFill>
              <a:srgbClr val="FFFFFF">
                <a:alpha val="6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2" name="circle802"/>
          <p:cNvSpPr/>
          <p:nvPr/>
        </p:nvSpPr>
        <p:spPr>
          <a:xfrm>
            <a:off x="9448800" y="1295400"/>
            <a:ext cx="4267200" cy="4267200"/>
          </a:xfrm>
          <a:prstGeom prst="ellipse">
            <a:avLst/>
          </a:prstGeom>
          <a:noFill/>
          <a:ln w="28575">
            <a:solidFill>
              <a:srgbClr val="FFFFFF">
                <a:alpha val="9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3" name="circle803"/>
          <p:cNvSpPr/>
          <p:nvPr/>
        </p:nvSpPr>
        <p:spPr>
          <a:xfrm>
            <a:off x="10287000" y="2133600"/>
            <a:ext cx="2590800" cy="2590800"/>
          </a:xfrm>
          <a:prstGeom prst="ellipse">
            <a:avLst/>
          </a:prstGeom>
          <a:noFill/>
          <a:ln w="28575">
            <a:solidFill>
              <a:srgbClr val="FFFFFF">
                <a:alpha val="13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4" name="circle804"/>
          <p:cNvSpPr/>
          <p:nvPr/>
        </p:nvSpPr>
        <p:spPr>
          <a:xfrm>
            <a:off x="10858500" y="2705100"/>
            <a:ext cx="1447800" cy="1447800"/>
          </a:xfrm>
          <a:prstGeom prst="ellipse">
            <a:avLst/>
          </a:prstGeom>
          <a:noFill/>
          <a:ln w="19050">
            <a:solidFill>
              <a:srgbClr val="FFFFFF">
                <a:alpha val="18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0" name="TitleKicker"/>
          <p:cNvSpPr txBox="1"/>
          <p:nvPr/>
        </p:nvSpPr>
        <p:spPr>
          <a:xfrm>
            <a:off x="685800" y="1188720"/>
            <a:ext cx="90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200" b="1" spc="320" dirty="0">
                <a:solidFill>
                  <a:srgbClr val="8FB6E4"/>
                </a:solidFill>
                <a:latin typeface="Arial" charset="0"/>
                <a:ea typeface="맑은 고딕"/>
                <a:cs typeface="Arial" charset="0"/>
              </a:rPr>
              <a:t>TURBOMACHINERY DESIGN SOFTWARE</a:t>
            </a:r>
          </a:p>
        </p:txBody>
      </p:sp>
      <p:sp>
        <p:nvSpPr>
          <p:cNvPr id="811" name="MainTitle"/>
          <p:cNvSpPr txBox="1"/>
          <p:nvPr/>
        </p:nvSpPr>
        <p:spPr>
          <a:xfrm>
            <a:off x="685800" y="1554480"/>
            <a:ext cx="94000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3400" b="1" dirty="0">
                <a:solidFill>
                  <a:srgbClr val="FFFFFF"/>
                </a:solidFill>
                <a:latin typeface="Arial" charset="0"/>
                <a:ea typeface="맑은 고딕"/>
                <a:cs typeface="Arial" charset="0"/>
              </a:rPr>
              <a:t>Multi-Fidelity Design of</a:t>
            </a:r>
          </a:p>
          <a:p>
            <a:pPr algn="l"/>
            <a:r>
              <a:rPr lang="en-US" altLang="ko-KR" sz="3400" b="1" dirty="0">
                <a:solidFill>
                  <a:srgbClr val="FFFFFF"/>
                </a:solidFill>
                <a:latin typeface="Arial" charset="0"/>
                <a:ea typeface="맑은 고딕"/>
                <a:cs typeface="Arial" charset="0"/>
              </a:rPr>
              <a:t>3D Turbo Centrifugal Fan</a:t>
            </a:r>
          </a:p>
        </p:txBody>
      </p:sp>
      <p:sp>
        <p:nvSpPr>
          <p:cNvPr id="812" name="SubTitle"/>
          <p:cNvSpPr txBox="1"/>
          <p:nvPr/>
        </p:nvSpPr>
        <p:spPr>
          <a:xfrm>
            <a:off x="685800" y="3108960"/>
            <a:ext cx="94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600" b="0" dirty="0">
                <a:solidFill>
                  <a:srgbClr val="C7DCF5"/>
                </a:solidFill>
                <a:latin typeface="Arial" charset="0"/>
                <a:ea typeface="맑은 고딕"/>
                <a:cs typeface="Arial" charset="0"/>
              </a:rPr>
              <a:t>By Using </a:t>
            </a:r>
            <a:r>
              <a:rPr lang="en-US" altLang="ko-KR" sz="1600" b="1" i="1" dirty="0">
                <a:solidFill>
                  <a:srgbClr val="C7DCF5"/>
                </a:solidFill>
                <a:latin typeface="Arial" charset="0"/>
                <a:ea typeface="맑은 고딕"/>
                <a:cs typeface="Arial" charset="0"/>
              </a:rPr>
              <a:t>i</a:t>
            </a:r>
            <a:r>
              <a:rPr lang="en-US" altLang="ko-KR" sz="1600" b="1" dirty="0">
                <a:solidFill>
                  <a:srgbClr val="C7DCF5"/>
                </a:solidFill>
                <a:latin typeface="Arial" charset="0"/>
                <a:ea typeface="맑은 고딕"/>
                <a:cs typeface="Arial" charset="0"/>
              </a:rPr>
              <a:t>DesignFan</a:t>
            </a:r>
            <a:r>
              <a:rPr lang="en-US" altLang="ko-KR" sz="1600" b="0" dirty="0">
                <a:solidFill>
                  <a:srgbClr val="C7DCF5"/>
                </a:solidFill>
                <a:latin typeface="Arial" charset="0"/>
                <a:ea typeface="맑은 고딕"/>
                <a:cs typeface="Arial" charset="0"/>
              </a:rPr>
              <a:t> Turbo Design Module V4.1</a:t>
            </a:r>
          </a:p>
        </p:txBody>
      </p:sp>
      <p:sp>
        <p:nvSpPr>
          <p:cNvPr id="813" name="Orgs"/>
          <p:cNvSpPr txBox="1"/>
          <p:nvPr/>
        </p:nvSpPr>
        <p:spPr>
          <a:xfrm>
            <a:off x="685800" y="3691128"/>
            <a:ext cx="900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300" b="1" dirty="0">
                <a:solidFill>
                  <a:srgbClr val="E3EDF9"/>
                </a:solidFill>
                <a:latin typeface="Arial" charset="0"/>
                <a:ea typeface="맑은 고딕"/>
                <a:cs typeface="Arial" charset="0"/>
              </a:rPr>
              <a:t>㈜에어로네트</a:t>
            </a:r>
            <a:r>
              <a:rPr lang="en-US" altLang="ko-KR" sz="1300" b="0" dirty="0">
                <a:solidFill>
                  <a:srgbClr val="8FB6E4"/>
                </a:solidFill>
                <a:latin typeface="Arial" charset="0"/>
                <a:ea typeface="맑은 고딕"/>
                <a:cs typeface="Arial" charset="0"/>
              </a:rPr>
              <a:t>   ·   </a:t>
            </a:r>
            <a:r>
              <a:rPr lang="en-US" altLang="ko-KR" sz="1300" b="1" dirty="0">
                <a:solidFill>
                  <a:srgbClr val="E3EDF9"/>
                </a:solidFill>
                <a:latin typeface="Arial" charset="0"/>
                <a:ea typeface="맑은 고딕"/>
                <a:cs typeface="Arial" charset="0"/>
              </a:rPr>
              <a:t>인하대학교 유동소음제어연구실</a:t>
            </a:r>
          </a:p>
        </p:txBody>
      </p:sp>
      <p:sp>
        <p:nvSpPr>
          <p:cNvPr id="820" name="SealChip"/>
          <p:cNvSpPr/>
          <p:nvPr/>
        </p:nvSpPr>
        <p:spPr>
          <a:xfrm>
            <a:off x="685800" y="539568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20000" dist="381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21" name="LogoChip"/>
          <p:cNvSpPr/>
          <p:nvPr/>
        </p:nvSpPr>
        <p:spPr>
          <a:xfrm>
            <a:off x="1737360" y="5441950"/>
            <a:ext cx="228600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120000" dist="381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22" name="InhaS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514552"/>
            <a:ext cx="676656" cy="676656"/>
          </a:xfrm>
          <a:prstGeom prst="rect">
            <a:avLst/>
          </a:prstGeom>
        </p:spPr>
      </p:pic>
      <p:pic>
        <p:nvPicPr>
          <p:cNvPr id="823" name="AeroNe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5690870"/>
            <a:ext cx="1828800" cy="325120"/>
          </a:xfrm>
          <a:prstGeom prst="rect">
            <a:avLst/>
          </a:prstGeom>
        </p:spPr>
      </p:pic>
      <p:sp>
        <p:nvSpPr>
          <p:cNvPr id="824" name="DateBox"/>
          <p:cNvSpPr txBox="1"/>
          <p:nvPr/>
        </p:nvSpPr>
        <p:spPr>
          <a:xfrm>
            <a:off x="9448800" y="6248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100" b="0" dirty="0">
                <a:solidFill>
                  <a:srgbClr val="9FBADC"/>
                </a:solidFill>
                <a:latin typeface="Arial" charset="0"/>
                <a:ea typeface="맑은 고딕"/>
                <a:cs typeface="Arial" charset="0"/>
              </a:rPr>
              <a:t>August 20, 2026</a:t>
            </a:r>
          </a:p>
        </p:txBody>
      </p:sp>
    </p:spTree>
    <p:extLst>
      <p:ext uri="{BB962C8B-B14F-4D97-AF65-F5344CB8AC3E}">
        <p14:creationId xmlns:p14="http://schemas.microsoft.com/office/powerpoint/2010/main" val="223644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2">
            <a:extLst>
              <a:ext uri="{FF2B5EF4-FFF2-40B4-BE49-F238E27FC236}">
                <a16:creationId xmlns:a16="http://schemas.microsoft.com/office/drawing/2014/main" id="{AE3F6EB2-7938-3B43-BE3A-9663FB8AB4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96" t="17652" r="18806" b="16783"/>
          <a:stretch>
            <a:fillRect/>
          </a:stretch>
        </p:blipFill>
        <p:spPr>
          <a:xfrm>
            <a:off x="7242739" y="847504"/>
            <a:ext cx="2505709" cy="2872740"/>
          </a:xfrm>
          <a:prstGeom prst="rect">
            <a:avLst/>
          </a:prstGeom>
        </p:spPr>
      </p:pic>
      <p:sp>
        <p:nvSpPr>
          <p:cNvPr id="9" name="TextBox 105">
            <a:extLst>
              <a:ext uri="{FF2B5EF4-FFF2-40B4-BE49-F238E27FC236}">
                <a16:creationId xmlns:a16="http://schemas.microsoft.com/office/drawing/2014/main" id="{E89FD16C-EEA0-610B-5BB0-575D7DB87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830" y="888700"/>
            <a:ext cx="7120647" cy="5663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Turbo </a:t>
            </a:r>
            <a:r>
              <a:rPr lang="ko-KR" altLang="ko-KR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Centrifugal</a:t>
            </a: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Fan Market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M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widely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fluid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machines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HVAC,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just"/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ventilation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cooling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especially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altLang="ko-KR" sz="1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Ceneter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Cooling Module</a:t>
            </a:r>
            <a:r>
              <a:rPr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contributing to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800" b="1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consumption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(1.5 ~ 2.5%),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1 %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 of </a:t>
            </a:r>
          </a:p>
          <a:p>
            <a:pPr algn="just"/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yield</a:t>
            </a:r>
            <a:r>
              <a:rPr lang="en-US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huge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savings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( 6,600 ~ 11,000 </a:t>
            </a:r>
          </a:p>
          <a:p>
            <a:pPr algn="just"/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Gwh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sz="1800" b="1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ko-KR" altLang="ko-KR" sz="1800" b="1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ko-KR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Conventional</a:t>
            </a:r>
            <a:r>
              <a:rPr lang="ko-KR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ko-KR" altLang="ko-KR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esign</a:t>
            </a:r>
            <a:r>
              <a:rPr lang="ko-KR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ko-KR" altLang="ko-KR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ptimization</a:t>
            </a:r>
            <a:r>
              <a:rPr lang="ko-KR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ko-KR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high-fidelity</a:t>
            </a:r>
            <a:r>
              <a:rPr lang="ko-KR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CFD</a:t>
            </a:r>
            <a:endParaRPr lang="en-US" altLang="ko-KR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20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Huge amount of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computational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resources for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</a:p>
          <a:p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dimensional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cases.</a:t>
            </a:r>
          </a:p>
          <a:p>
            <a:endParaRPr lang="en-US" altLang="ko-KR" sz="1800" b="1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Machine-learning</a:t>
            </a:r>
            <a:r>
              <a:rPr lang="ko-KR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ko-KR" altLang="ko-KR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urrogate</a:t>
            </a:r>
            <a:r>
              <a:rPr lang="ko-KR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ko-KR" altLang="ko-KR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odels</a:t>
            </a:r>
            <a:r>
              <a:rPr lang="ko-KR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altLang="ko-KR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CFD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negligible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nabling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broader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exploration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8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en-US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ko-KR" altLang="ko-KR" sz="18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4" name="그림 13" descr="Slider Image">
            <a:extLst>
              <a:ext uri="{FF2B5EF4-FFF2-40B4-BE49-F238E27FC236}">
                <a16:creationId xmlns:a16="http://schemas.microsoft.com/office/drawing/2014/main" id="{6A86BC3F-9FF8-3D08-6040-160154C1F5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89" t="5366" r="20571"/>
          <a:stretch>
            <a:fillRect/>
          </a:stretch>
        </p:blipFill>
        <p:spPr>
          <a:xfrm>
            <a:off x="9235326" y="1057550"/>
            <a:ext cx="2842791" cy="24670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F1E4D44-7F71-0A8E-EFA0-58EB6B2605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8709" y="3880621"/>
            <a:ext cx="2491442" cy="1741271"/>
          </a:xfrm>
          <a:prstGeom prst="rect">
            <a:avLst/>
          </a:prstGeom>
        </p:spPr>
      </p:pic>
      <p:pic>
        <p:nvPicPr>
          <p:cNvPr id="17" name="그림 16" descr="3D Graphics Concept: Big Data Center Female Chief Technology Officer Using Laptop Standing In Warehouse, Activates Servers, Information Digitalization Starts. SAAS, Cloud Computing, Online Service">
            <a:extLst>
              <a:ext uri="{FF2B5EF4-FFF2-40B4-BE49-F238E27FC236}">
                <a16:creationId xmlns:a16="http://schemas.microsoft.com/office/drawing/2014/main" id="{D621E7FB-2A96-820E-ED23-E0669A1149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543" t="6163" r="14905"/>
          <a:stretch>
            <a:fillRect/>
          </a:stretch>
        </p:blipFill>
        <p:spPr>
          <a:xfrm>
            <a:off x="7323309" y="3811036"/>
            <a:ext cx="2425139" cy="1952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D4AD88D-7C39-55BE-3EC4-1D13C79CAB55}"/>
              </a:ext>
            </a:extLst>
          </p:cNvPr>
          <p:cNvSpPr txBox="1"/>
          <p:nvPr/>
        </p:nvSpPr>
        <p:spPr>
          <a:xfrm>
            <a:off x="7136064" y="5881026"/>
            <a:ext cx="2888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&lt;Cooling for Data Center&gt;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A7135B-8EB1-10FF-6D5D-7010C296D45D}"/>
              </a:ext>
            </a:extLst>
          </p:cNvPr>
          <p:cNvSpPr txBox="1"/>
          <p:nvPr/>
        </p:nvSpPr>
        <p:spPr>
          <a:xfrm>
            <a:off x="9766860" y="5881026"/>
            <a:ext cx="2425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&lt;Cooling for Fuel Cell&gt;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Multi-Fidelity Design of 3D Turbo Centrifugal Fan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Introduction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02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326976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5CA08EA9-0133-E983-DC24-771F439CF3E6}"/>
              </a:ext>
            </a:extLst>
          </p:cNvPr>
          <p:cNvGrpSpPr/>
          <p:nvPr/>
        </p:nvGrpSpPr>
        <p:grpSpPr>
          <a:xfrm>
            <a:off x="985593" y="1781464"/>
            <a:ext cx="10220814" cy="4215955"/>
            <a:chOff x="904386" y="1689100"/>
            <a:chExt cx="10220814" cy="4215955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49484D2-71A1-AED0-B57B-4F574629E2AA}"/>
                </a:ext>
              </a:extLst>
            </p:cNvPr>
            <p:cNvGrpSpPr/>
            <p:nvPr/>
          </p:nvGrpSpPr>
          <p:grpSpPr>
            <a:xfrm>
              <a:off x="9242090" y="1689100"/>
              <a:ext cx="605298" cy="1237482"/>
              <a:chOff x="9060006" y="19182461"/>
              <a:chExt cx="605298" cy="1237482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8C5F53D5-BFF0-41B0-5373-24CCE7AC6E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060006" y="19182461"/>
                <a:ext cx="396590" cy="1237482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374BA6-2BE8-77A0-CCCC-ED1A9AF1E370}"/>
                  </a:ext>
                </a:extLst>
              </p:cNvPr>
              <p:cNvSpPr txBox="1"/>
              <p:nvPr/>
            </p:nvSpPr>
            <p:spPr>
              <a:xfrm>
                <a:off x="9465249" y="20211246"/>
                <a:ext cx="200055" cy="682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eaVert" wrap="square" rtlCol="0">
                <a:spAutoFit/>
              </a:bodyPr>
              <a:lstStyle/>
              <a:p>
                <a:endParaRPr lang="ko-KR" altLang="en-US" sz="100" dirty="0"/>
              </a:p>
            </p:txBody>
          </p:sp>
        </p:grp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DA4CD12-8CB6-281E-6A8D-1211EF392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950823" y="1854919"/>
              <a:ext cx="1995791" cy="338630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6D9D2C9-12E3-0AA0-1413-085C46D20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4386" y="1765300"/>
              <a:ext cx="1915001" cy="3353926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C49B73C-278C-7414-9AB8-9097AFB0E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3121" y="1910063"/>
              <a:ext cx="357305" cy="119366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E7F4F0-3EE4-152D-F221-B083E0174EA7}"/>
                </a:ext>
              </a:extLst>
            </p:cNvPr>
            <p:cNvSpPr txBox="1"/>
            <p:nvPr/>
          </p:nvSpPr>
          <p:spPr>
            <a:xfrm>
              <a:off x="4237960" y="2149071"/>
              <a:ext cx="609600" cy="424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TE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8D9AED-971D-6CC0-0AC7-102612EB4C25}"/>
                </a:ext>
              </a:extLst>
            </p:cNvPr>
            <p:cNvSpPr txBox="1"/>
            <p:nvPr/>
          </p:nvSpPr>
          <p:spPr>
            <a:xfrm>
              <a:off x="3563738" y="1739924"/>
              <a:ext cx="571500" cy="424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LE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CC60166-4802-43E1-D705-0FDFA09E3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689"/>
            <a:stretch>
              <a:fillRect/>
            </a:stretch>
          </p:blipFill>
          <p:spPr>
            <a:xfrm>
              <a:off x="2989964" y="3386598"/>
              <a:ext cx="2454474" cy="1893678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43CCA830-73ED-5F23-4C47-265806876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12" r="-2422"/>
            <a:stretch>
              <a:fillRect/>
            </a:stretch>
          </p:blipFill>
          <p:spPr>
            <a:xfrm>
              <a:off x="8162994" y="3517900"/>
              <a:ext cx="2535169" cy="161620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CCAAC79-4555-764D-887D-63552C79FDF3}"/>
                </a:ext>
              </a:extLst>
            </p:cNvPr>
            <p:cNvSpPr txBox="1"/>
            <p:nvPr/>
          </p:nvSpPr>
          <p:spPr>
            <a:xfrm>
              <a:off x="1115295" y="5504945"/>
              <a:ext cx="45726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Conventional Design</a:t>
              </a:r>
              <a:endParaRPr lang="ko-KR" alt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E2A285-0DE6-5D5E-9060-FD0E2A2C266D}"/>
                </a:ext>
              </a:extLst>
            </p:cNvPr>
            <p:cNvSpPr txBox="1"/>
            <p:nvPr/>
          </p:nvSpPr>
          <p:spPr>
            <a:xfrm>
              <a:off x="7348818" y="5504945"/>
              <a:ext cx="37231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 Sweep Control</a:t>
              </a:r>
              <a:endParaRPr lang="ko-KR" alt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E2C252-22EB-5301-CE79-1422E2A7E9B3}"/>
                </a:ext>
              </a:extLst>
            </p:cNvPr>
            <p:cNvSpPr txBox="1"/>
            <p:nvPr/>
          </p:nvSpPr>
          <p:spPr>
            <a:xfrm>
              <a:off x="9623550" y="1787374"/>
              <a:ext cx="138120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-10° (CW)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940E92-9851-0A26-EB91-DDEDA56B9B97}"/>
                </a:ext>
              </a:extLst>
            </p:cNvPr>
            <p:cNvSpPr txBox="1"/>
            <p:nvPr/>
          </p:nvSpPr>
          <p:spPr>
            <a:xfrm>
              <a:off x="8458171" y="2161378"/>
              <a:ext cx="59742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+3°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4616AB-CAD7-D147-9FF0-94FCE4757914}"/>
                </a:ext>
              </a:extLst>
            </p:cNvPr>
            <p:cNvSpPr txBox="1"/>
            <p:nvPr/>
          </p:nvSpPr>
          <p:spPr>
            <a:xfrm>
              <a:off x="9680471" y="2640656"/>
              <a:ext cx="144472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6.9° (CW)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0C3AFF-05D5-AF1B-CEAE-F68BBA8FAFB2}"/>
                </a:ext>
              </a:extLst>
            </p:cNvPr>
            <p:cNvSpPr txBox="1"/>
            <p:nvPr/>
          </p:nvSpPr>
          <p:spPr>
            <a:xfrm>
              <a:off x="4464429" y="2914133"/>
              <a:ext cx="1109599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-Ω (CW)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8A4B57-E89B-10F7-3976-290B89718CC6}"/>
                </a:ext>
              </a:extLst>
            </p:cNvPr>
            <p:cNvSpPr txBox="1"/>
            <p:nvPr/>
          </p:nvSpPr>
          <p:spPr>
            <a:xfrm>
              <a:off x="8234599" y="2423087"/>
              <a:ext cx="9758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(CCW)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Software Design Methods &amp; Procedures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3D Design by Blade Control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03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187544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9FCB0-E796-C6DD-0105-28EEF9FD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DAFA55F-18F7-7335-5977-E5BDCA9F3E6C}"/>
              </a:ext>
            </a:extLst>
          </p:cNvPr>
          <p:cNvGrpSpPr>
            <a:grpSpLocks noChangeAspect="1"/>
          </p:cNvGrpSpPr>
          <p:nvPr/>
        </p:nvGrpSpPr>
        <p:grpSpPr>
          <a:xfrm>
            <a:off x="1620002" y="1658488"/>
            <a:ext cx="2563419" cy="2581119"/>
            <a:chOff x="956969" y="17387365"/>
            <a:chExt cx="7202714" cy="685845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8EE71DB-996C-7195-44BF-396FBE1FF458}"/>
                </a:ext>
              </a:extLst>
            </p:cNvPr>
            <p:cNvGrpSpPr/>
            <p:nvPr/>
          </p:nvGrpSpPr>
          <p:grpSpPr>
            <a:xfrm>
              <a:off x="956969" y="17387365"/>
              <a:ext cx="7202714" cy="6858456"/>
              <a:chOff x="1444964" y="18342386"/>
              <a:chExt cx="7202714" cy="6858456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7CD7DAE9-FF45-5CE4-72C1-D7E305FF9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3602" t="20519" r="15478" b="11345"/>
              <a:stretch>
                <a:fillRect/>
              </a:stretch>
            </p:blipFill>
            <p:spPr>
              <a:xfrm>
                <a:off x="1446778" y="19126199"/>
                <a:ext cx="7200900" cy="6074643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B78EB6E2-EEAC-D5F6-EF79-1E58C02E43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3602" t="1" r="15478" b="91208"/>
              <a:stretch>
                <a:fillRect/>
              </a:stretch>
            </p:blipFill>
            <p:spPr>
              <a:xfrm>
                <a:off x="1444964" y="18342386"/>
                <a:ext cx="7200900" cy="783813"/>
              </a:xfrm>
              <a:prstGeom prst="rect">
                <a:avLst/>
              </a:prstGeom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9929A9-2462-527C-1DBB-C0F72FE8A756}"/>
                </a:ext>
              </a:extLst>
            </p:cNvPr>
            <p:cNvSpPr txBox="1"/>
            <p:nvPr/>
          </p:nvSpPr>
          <p:spPr>
            <a:xfrm>
              <a:off x="6609443" y="23205209"/>
              <a:ext cx="1548426" cy="10406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021E451-C58B-56E1-410D-31CC0C6D3CAD}"/>
                </a:ext>
              </a:extLst>
            </p:cNvPr>
            <p:cNvSpPr txBox="1"/>
            <p:nvPr/>
          </p:nvSpPr>
          <p:spPr>
            <a:xfrm>
              <a:off x="2415684" y="23512709"/>
              <a:ext cx="1548427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ko-KR" altLang="en-US" sz="32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9373083-E983-D903-F417-0AF8D51EFBE8}"/>
              </a:ext>
            </a:extLst>
          </p:cNvPr>
          <p:cNvGrpSpPr>
            <a:grpSpLocks noChangeAspect="1"/>
          </p:cNvGrpSpPr>
          <p:nvPr/>
        </p:nvGrpSpPr>
        <p:grpSpPr>
          <a:xfrm>
            <a:off x="5741328" y="1869746"/>
            <a:ext cx="5569992" cy="4164525"/>
            <a:chOff x="4760131" y="23469600"/>
            <a:chExt cx="5092865" cy="3807791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22D39D4-2346-7004-6774-9F0D96FF6976}"/>
                </a:ext>
              </a:extLst>
            </p:cNvPr>
            <p:cNvGrpSpPr/>
            <p:nvPr/>
          </p:nvGrpSpPr>
          <p:grpSpPr>
            <a:xfrm>
              <a:off x="4760323" y="23469600"/>
              <a:ext cx="5092673" cy="1112025"/>
              <a:chOff x="4760323" y="23655952"/>
              <a:chExt cx="5092673" cy="1112025"/>
            </a:xfrm>
          </p:grpSpPr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33E4724D-2ABA-2F17-9799-E8807EF373E7}"/>
                  </a:ext>
                </a:extLst>
              </p:cNvPr>
              <p:cNvGrpSpPr/>
              <p:nvPr/>
            </p:nvGrpSpPr>
            <p:grpSpPr>
              <a:xfrm>
                <a:off x="4760323" y="23655952"/>
                <a:ext cx="5092673" cy="821502"/>
                <a:chOff x="5067300" y="4419600"/>
                <a:chExt cx="30232350" cy="4876800"/>
              </a:xfrm>
            </p:grpSpPr>
            <p:pic>
              <p:nvPicPr>
                <p:cNvPr id="55" name="그림 54">
                  <a:extLst>
                    <a:ext uri="{FF2B5EF4-FFF2-40B4-BE49-F238E27FC236}">
                      <a16:creationId xmlns:a16="http://schemas.microsoft.com/office/drawing/2014/main" id="{49B821C6-2356-AF0D-2DDC-2B01AA363E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67300" y="4419600"/>
                  <a:ext cx="9123809" cy="4876190"/>
                </a:xfrm>
                <a:prstGeom prst="rect">
                  <a:avLst/>
                </a:prstGeom>
              </p:spPr>
            </p:pic>
            <p:pic>
              <p:nvPicPr>
                <p:cNvPr id="56" name="그림 55">
                  <a:extLst>
                    <a:ext uri="{FF2B5EF4-FFF2-40B4-BE49-F238E27FC236}">
                      <a16:creationId xmlns:a16="http://schemas.microsoft.com/office/drawing/2014/main" id="{3AFBC827-6BBA-53B8-7C58-479428FA51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621000" y="4419600"/>
                  <a:ext cx="9123809" cy="4876190"/>
                </a:xfrm>
                <a:prstGeom prst="rect">
                  <a:avLst/>
                </a:prstGeom>
              </p:spPr>
            </p:pic>
            <p:pic>
              <p:nvPicPr>
                <p:cNvPr id="57" name="그림 56">
                  <a:extLst>
                    <a:ext uri="{FF2B5EF4-FFF2-40B4-BE49-F238E27FC236}">
                      <a16:creationId xmlns:a16="http://schemas.microsoft.com/office/drawing/2014/main" id="{A9F6BDD1-1166-364D-C7E0-660B636F1C1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174700" y="4419600"/>
                  <a:ext cx="9124950" cy="4876800"/>
                </a:xfrm>
                <a:prstGeom prst="rect">
                  <a:avLst/>
                </a:prstGeom>
              </p:spPr>
            </p:pic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FD81E67-DAEA-095B-759E-1CDCB993ED70}"/>
                  </a:ext>
                </a:extLst>
              </p:cNvPr>
              <p:cNvSpPr txBox="1"/>
              <p:nvPr/>
            </p:nvSpPr>
            <p:spPr>
              <a:xfrm>
                <a:off x="5052369" y="24460200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#1</a:t>
                </a:r>
                <a:endParaRPr lang="ko-KR" altLang="en-US" sz="1400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5ABF260-FCDD-9DD8-D8DB-526402A1B175}"/>
                  </a:ext>
                </a:extLst>
              </p:cNvPr>
              <p:cNvSpPr txBox="1"/>
              <p:nvPr/>
            </p:nvSpPr>
            <p:spPr>
              <a:xfrm>
                <a:off x="6784748" y="24460200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#2</a:t>
                </a:r>
                <a:endParaRPr lang="ko-KR" altLang="en-US" sz="14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8A0CAC3-3E48-67F9-7B93-87C9032023D8}"/>
                  </a:ext>
                </a:extLst>
              </p:cNvPr>
              <p:cNvSpPr txBox="1"/>
              <p:nvPr/>
            </p:nvSpPr>
            <p:spPr>
              <a:xfrm>
                <a:off x="8596458" y="24460200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#3</a:t>
                </a:r>
                <a:endParaRPr lang="ko-KR" altLang="en-US" sz="1400" dirty="0"/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7E414BB-BCD8-47FC-0FA3-5A3C21E577D1}"/>
                </a:ext>
              </a:extLst>
            </p:cNvPr>
            <p:cNvGrpSpPr/>
            <p:nvPr/>
          </p:nvGrpSpPr>
          <p:grpSpPr>
            <a:xfrm>
              <a:off x="4760131" y="24834922"/>
              <a:ext cx="5092864" cy="1114155"/>
              <a:chOff x="4760131" y="24990070"/>
              <a:chExt cx="5092864" cy="1114155"/>
            </a:xfrm>
          </p:grpSpPr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DCE0AC34-1EBD-19ED-9DC5-478680721434}"/>
                  </a:ext>
                </a:extLst>
              </p:cNvPr>
              <p:cNvGrpSpPr/>
              <p:nvPr/>
            </p:nvGrpSpPr>
            <p:grpSpPr>
              <a:xfrm>
                <a:off x="4760131" y="24990070"/>
                <a:ext cx="5092864" cy="821502"/>
                <a:chOff x="5066159" y="14020800"/>
                <a:chExt cx="30233486" cy="4876800"/>
              </a:xfrm>
            </p:grpSpPr>
            <p:pic>
              <p:nvPicPr>
                <p:cNvPr id="48" name="그림 47">
                  <a:extLst>
                    <a:ext uri="{FF2B5EF4-FFF2-40B4-BE49-F238E27FC236}">
                      <a16:creationId xmlns:a16="http://schemas.microsoft.com/office/drawing/2014/main" id="{4201906D-5BA7-637B-CD1D-A811D6BA130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66159" y="14020800"/>
                  <a:ext cx="9124950" cy="4876800"/>
                </a:xfrm>
                <a:prstGeom prst="rect">
                  <a:avLst/>
                </a:prstGeom>
              </p:spPr>
            </p:pic>
            <p:pic>
              <p:nvPicPr>
                <p:cNvPr id="49" name="그림 48">
                  <a:extLst>
                    <a:ext uri="{FF2B5EF4-FFF2-40B4-BE49-F238E27FC236}">
                      <a16:creationId xmlns:a16="http://schemas.microsoft.com/office/drawing/2014/main" id="{0509BCEE-E70C-CFBA-C5B0-0FD368BCDBB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5621002" y="14020800"/>
                  <a:ext cx="9124945" cy="4876800"/>
                </a:xfrm>
                <a:prstGeom prst="rect">
                  <a:avLst/>
                </a:prstGeom>
              </p:spPr>
            </p:pic>
            <p:pic>
              <p:nvPicPr>
                <p:cNvPr id="50" name="그림 49">
                  <a:extLst>
                    <a:ext uri="{FF2B5EF4-FFF2-40B4-BE49-F238E27FC236}">
                      <a16:creationId xmlns:a16="http://schemas.microsoft.com/office/drawing/2014/main" id="{33D27B01-598C-4876-E399-B23AF0688BF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26174700" y="14020800"/>
                  <a:ext cx="9124945" cy="4876800"/>
                </a:xfrm>
                <a:prstGeom prst="rect">
                  <a:avLst/>
                </a:prstGeom>
              </p:spPr>
            </p:pic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5AE90DA-01D1-F231-91F2-827C114EE8AE}"/>
                  </a:ext>
                </a:extLst>
              </p:cNvPr>
              <p:cNvSpPr txBox="1"/>
              <p:nvPr/>
            </p:nvSpPr>
            <p:spPr>
              <a:xfrm>
                <a:off x="5033000" y="25796448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#51</a:t>
                </a:r>
                <a:endParaRPr lang="ko-KR" altLang="en-US" sz="1400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D535F95-B5BF-C959-B085-B1C52D797375}"/>
                  </a:ext>
                </a:extLst>
              </p:cNvPr>
              <p:cNvSpPr txBox="1"/>
              <p:nvPr/>
            </p:nvSpPr>
            <p:spPr>
              <a:xfrm>
                <a:off x="6765379" y="25796448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#52</a:t>
                </a:r>
                <a:endParaRPr lang="ko-KR" altLang="en-US" sz="14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8B19058-4B4A-0EA0-34FB-6CF0FB528693}"/>
                  </a:ext>
                </a:extLst>
              </p:cNvPr>
              <p:cNvSpPr txBox="1"/>
              <p:nvPr/>
            </p:nvSpPr>
            <p:spPr>
              <a:xfrm>
                <a:off x="8577089" y="25796448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#53</a:t>
                </a:r>
                <a:endParaRPr lang="ko-KR" altLang="en-US" sz="1400" dirty="0"/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D58A4AF-5AA8-8AE1-B0CF-E986593FA851}"/>
                </a:ext>
              </a:extLst>
            </p:cNvPr>
            <p:cNvGrpSpPr/>
            <p:nvPr/>
          </p:nvGrpSpPr>
          <p:grpSpPr>
            <a:xfrm>
              <a:off x="4760323" y="26170113"/>
              <a:ext cx="5092673" cy="1107278"/>
              <a:chOff x="4760323" y="26325982"/>
              <a:chExt cx="5092673" cy="1107278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54F1D43E-8D13-833B-449E-32C34CEDB59E}"/>
                  </a:ext>
                </a:extLst>
              </p:cNvPr>
              <p:cNvGrpSpPr/>
              <p:nvPr/>
            </p:nvGrpSpPr>
            <p:grpSpPr>
              <a:xfrm>
                <a:off x="4760323" y="26325982"/>
                <a:ext cx="5092673" cy="821502"/>
                <a:chOff x="5066159" y="23622000"/>
                <a:chExt cx="30232350" cy="4876800"/>
              </a:xfrm>
            </p:grpSpPr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6C62A518-C534-FEA5-5201-36A2F968C7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174700" y="23622610"/>
                  <a:ext cx="9123809" cy="4876190"/>
                </a:xfrm>
                <a:prstGeom prst="rect">
                  <a:avLst/>
                </a:prstGeom>
              </p:spPr>
            </p:pic>
            <p:pic>
              <p:nvPicPr>
                <p:cNvPr id="42" name="그림 41">
                  <a:extLst>
                    <a:ext uri="{FF2B5EF4-FFF2-40B4-BE49-F238E27FC236}">
                      <a16:creationId xmlns:a16="http://schemas.microsoft.com/office/drawing/2014/main" id="{F6E48647-DAB4-A18D-643A-9F7D449DCCD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066159" y="23622000"/>
                  <a:ext cx="9124944" cy="4876800"/>
                </a:xfrm>
                <a:prstGeom prst="rect">
                  <a:avLst/>
                </a:prstGeom>
              </p:spPr>
            </p:pic>
            <p:pic>
              <p:nvPicPr>
                <p:cNvPr id="43" name="그림 42">
                  <a:extLst>
                    <a:ext uri="{FF2B5EF4-FFF2-40B4-BE49-F238E27FC236}">
                      <a16:creationId xmlns:a16="http://schemas.microsoft.com/office/drawing/2014/main" id="{FC83F50F-3BE9-A0AA-E56E-EA1B88FB93D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5621002" y="23622202"/>
                  <a:ext cx="9124950" cy="4876390"/>
                </a:xfrm>
                <a:prstGeom prst="rect">
                  <a:avLst/>
                </a:prstGeom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7C07D7-08C8-AB7D-CEC3-4FA06BC488A7}"/>
                  </a:ext>
                </a:extLst>
              </p:cNvPr>
              <p:cNvSpPr txBox="1"/>
              <p:nvPr/>
            </p:nvSpPr>
            <p:spPr>
              <a:xfrm>
                <a:off x="4991100" y="27125480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#98</a:t>
                </a:r>
                <a:endParaRPr lang="ko-KR" altLang="en-US" sz="14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AE4C02-FED8-D089-86E4-86A01DAFC04C}"/>
                  </a:ext>
                </a:extLst>
              </p:cNvPr>
              <p:cNvSpPr txBox="1"/>
              <p:nvPr/>
            </p:nvSpPr>
            <p:spPr>
              <a:xfrm>
                <a:off x="6723479" y="27125482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#99</a:t>
                </a:r>
                <a:endParaRPr lang="ko-KR" altLang="en-US" sz="140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58A36F-D899-675C-11E8-EC5C35041105}"/>
                  </a:ext>
                </a:extLst>
              </p:cNvPr>
              <p:cNvSpPr txBox="1"/>
              <p:nvPr/>
            </p:nvSpPr>
            <p:spPr>
              <a:xfrm>
                <a:off x="8535189" y="27125483"/>
                <a:ext cx="10436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#100</a:t>
                </a:r>
                <a:endParaRPr lang="ko-KR" altLang="en-US" sz="1400" dirty="0"/>
              </a:p>
            </p:txBody>
          </p:sp>
        </p:grpSp>
        <p:sp>
          <p:nvSpPr>
            <p:cNvPr id="33" name="순서도: 연결자 32">
              <a:extLst>
                <a:ext uri="{FF2B5EF4-FFF2-40B4-BE49-F238E27FC236}">
                  <a16:creationId xmlns:a16="http://schemas.microsoft.com/office/drawing/2014/main" id="{75E1BF63-F0C3-6244-E265-EF87DBFC48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7669" y="24552784"/>
              <a:ext cx="48147" cy="4448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순서도: 연결자 33">
              <a:extLst>
                <a:ext uri="{FF2B5EF4-FFF2-40B4-BE49-F238E27FC236}">
                  <a16:creationId xmlns:a16="http://schemas.microsoft.com/office/drawing/2014/main" id="{86CDA7DA-10E2-EFAD-752C-567DBD9724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7669" y="24664327"/>
              <a:ext cx="48147" cy="4448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순서도: 연결자 34">
              <a:extLst>
                <a:ext uri="{FF2B5EF4-FFF2-40B4-BE49-F238E27FC236}">
                  <a16:creationId xmlns:a16="http://schemas.microsoft.com/office/drawing/2014/main" id="{25650A58-28E9-671C-BBD4-6E662C127F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53595" y="25956940"/>
              <a:ext cx="48147" cy="4448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순서도: 연결자 35">
              <a:extLst>
                <a:ext uri="{FF2B5EF4-FFF2-40B4-BE49-F238E27FC236}">
                  <a16:creationId xmlns:a16="http://schemas.microsoft.com/office/drawing/2014/main" id="{6D05ABD9-784D-22BC-4DF0-6DA3DBCA18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53595" y="26068483"/>
              <a:ext cx="48147" cy="4448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222F04C8-0BA6-28B4-1823-48D887D72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624191"/>
              </p:ext>
            </p:extLst>
          </p:nvPr>
        </p:nvGraphicFramePr>
        <p:xfrm>
          <a:off x="729688" y="4674522"/>
          <a:ext cx="4343400" cy="1760895"/>
        </p:xfrm>
        <a:graphic>
          <a:graphicData uri="http://schemas.openxmlformats.org/drawingml/2006/table">
            <a:tbl>
              <a:tblPr/>
              <a:tblGrid>
                <a:gridCol w="1680031">
                  <a:extLst>
                    <a:ext uri="{9D8B030D-6E8A-4147-A177-3AD203B41FA5}">
                      <a16:colId xmlns:a16="http://schemas.microsoft.com/office/drawing/2014/main" val="3886779657"/>
                    </a:ext>
                  </a:extLst>
                </a:gridCol>
                <a:gridCol w="2663369">
                  <a:extLst>
                    <a:ext uri="{9D8B030D-6E8A-4147-A177-3AD203B41FA5}">
                      <a16:colId xmlns:a16="http://schemas.microsoft.com/office/drawing/2014/main" val="2687989193"/>
                    </a:ext>
                  </a:extLst>
                </a:gridCol>
              </a:tblGrid>
              <a:tr h="3320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Design Parameters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555423"/>
                  </a:ext>
                </a:extLst>
              </a:tr>
              <a:tr h="2822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Diameter (D)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630 mm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88719"/>
                  </a:ext>
                </a:extLst>
              </a:tr>
              <a:tr h="2997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Rotation Speed (N)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1000 rpm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691226"/>
                  </a:ext>
                </a:extLst>
              </a:tr>
              <a:tr h="2822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Blade Thickness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 mm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865692"/>
                  </a:ext>
                </a:extLst>
              </a:tr>
              <a:tr h="2822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Flow Rate (Q)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 m</a:t>
                      </a:r>
                      <a:r>
                        <a:rPr lang="en-US" altLang="ko-KR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/s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86383"/>
                  </a:ext>
                </a:extLst>
              </a:tr>
              <a:tr h="2822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Outlet Width (b2)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230 mm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16597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FB982E2-2095-F204-BEBE-DEC6F857240D}"/>
              </a:ext>
            </a:extLst>
          </p:cNvPr>
          <p:cNvSpPr txBox="1"/>
          <p:nvPr/>
        </p:nvSpPr>
        <p:spPr>
          <a:xfrm>
            <a:off x="1772051" y="4115752"/>
            <a:ext cx="2558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2060"/>
                </a:solidFill>
              </a:rPr>
              <a:t>Design Example</a:t>
            </a:r>
            <a:endParaRPr lang="ko-KR" altLang="en-US" sz="2000" b="1" dirty="0">
              <a:solidFill>
                <a:srgbClr val="002060"/>
              </a:solidFill>
            </a:endParaRP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Software Design Methods &amp; Procedures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Latin Hypercube Sampling (LHS)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04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21068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91A5-B598-1BD6-19BB-FB87FF3A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Air Flow Test Bench: A Senior Capstone Project">
            <a:extLst>
              <a:ext uri="{FF2B5EF4-FFF2-40B4-BE49-F238E27FC236}">
                <a16:creationId xmlns:a16="http://schemas.microsoft.com/office/drawing/2014/main" id="{97F1BDAA-7345-CE38-DEE2-5DC981C1F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31" y="2497853"/>
            <a:ext cx="5149393" cy="2986093"/>
          </a:xfrm>
          <a:prstGeom prst="rect">
            <a:avLst/>
          </a:prstGeom>
        </p:spPr>
      </p:pic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F4B4DD93-23A2-DA60-54C3-9D6D02850D26}"/>
              </a:ext>
            </a:extLst>
          </p:cNvPr>
          <p:cNvSpPr/>
          <p:nvPr/>
        </p:nvSpPr>
        <p:spPr>
          <a:xfrm rot="16200000">
            <a:off x="6442045" y="3517031"/>
            <a:ext cx="573088" cy="646331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5F23D-282C-FD80-C424-89A9FD49210E}"/>
              </a:ext>
            </a:extLst>
          </p:cNvPr>
          <p:cNvSpPr txBox="1"/>
          <p:nvPr/>
        </p:nvSpPr>
        <p:spPr>
          <a:xfrm>
            <a:off x="7785597" y="3392190"/>
            <a:ext cx="3517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Low-fidelity CFD</a:t>
            </a:r>
            <a:r>
              <a:rPr lang="ko-KR" alt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</a:t>
            </a:r>
            <a:endParaRPr lang="ko-KR" alt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496211-9D11-F811-312E-C8360E8862A6}"/>
              </a:ext>
            </a:extLst>
          </p:cNvPr>
          <p:cNvSpPr txBox="1"/>
          <p:nvPr/>
        </p:nvSpPr>
        <p:spPr>
          <a:xfrm>
            <a:off x="7858923" y="6007788"/>
            <a:ext cx="329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High-fidelity CFD Domain </a:t>
            </a:r>
            <a:endParaRPr lang="ko-KR" alt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044A72C-6337-EBC5-4E3E-F05340DAE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83" t="8374" r="30708" b="9293"/>
          <a:stretch>
            <a:fillRect/>
          </a:stretch>
        </p:blipFill>
        <p:spPr>
          <a:xfrm>
            <a:off x="8478228" y="3990900"/>
            <a:ext cx="2060350" cy="2020132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96DDF21E-2E5D-3359-9683-4C0490A72F17}"/>
              </a:ext>
            </a:extLst>
          </p:cNvPr>
          <p:cNvGrpSpPr/>
          <p:nvPr/>
        </p:nvGrpSpPr>
        <p:grpSpPr>
          <a:xfrm>
            <a:off x="7483075" y="807727"/>
            <a:ext cx="3384199" cy="2558813"/>
            <a:chOff x="7975533" y="27841336"/>
            <a:chExt cx="2654367" cy="1998838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B41396E-676F-7FB1-9F69-CE6F79196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790" t="6250" r="12549" b="3943"/>
            <a:stretch>
              <a:fillRect/>
            </a:stretch>
          </p:blipFill>
          <p:spPr>
            <a:xfrm>
              <a:off x="8578636" y="28041690"/>
              <a:ext cx="1181675" cy="179848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BEBCCA4-9CD2-1686-5EFC-5A74DB6702E0}"/>
                </a:ext>
              </a:extLst>
            </p:cNvPr>
            <p:cNvSpPr txBox="1"/>
            <p:nvPr/>
          </p:nvSpPr>
          <p:spPr>
            <a:xfrm>
              <a:off x="7975533" y="28637270"/>
              <a:ext cx="53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3D</a:t>
              </a:r>
              <a:endParaRPr lang="ko-KR" altLang="en-US" sz="2400" dirty="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FE9CC42B-7C67-048A-BD26-14B9101EF8DD}"/>
                </a:ext>
              </a:extLst>
            </p:cNvPr>
            <p:cNvCxnSpPr/>
            <p:nvPr/>
          </p:nvCxnSpPr>
          <p:spPr>
            <a:xfrm>
              <a:off x="8507471" y="28398864"/>
              <a:ext cx="0" cy="1084135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5AF58D-6330-9325-9E97-5409FF504AEE}"/>
                </a:ext>
              </a:extLst>
            </p:cNvPr>
            <p:cNvSpPr txBox="1"/>
            <p:nvPr/>
          </p:nvSpPr>
          <p:spPr>
            <a:xfrm>
              <a:off x="8655298" y="27841336"/>
              <a:ext cx="53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2D</a:t>
              </a:r>
              <a:endParaRPr lang="ko-KR" altLang="en-US" sz="2400" dirty="0"/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6AEAFC38-E79B-9E46-8AAA-2C32207C79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8636" y="28270200"/>
              <a:ext cx="721518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D3543D08-EEDE-C16C-BEBA-289591540414}"/>
                </a:ext>
              </a:extLst>
            </p:cNvPr>
            <p:cNvCxnSpPr>
              <a:cxnSpLocks/>
            </p:cNvCxnSpPr>
            <p:nvPr/>
          </p:nvCxnSpPr>
          <p:spPr>
            <a:xfrm>
              <a:off x="9944100" y="28041690"/>
              <a:ext cx="0" cy="177843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007A5E6-664F-9D16-4BBA-C473FAD9C180}"/>
                </a:ext>
              </a:extLst>
            </p:cNvPr>
            <p:cNvSpPr txBox="1"/>
            <p:nvPr/>
          </p:nvSpPr>
          <p:spPr>
            <a:xfrm>
              <a:off x="10096928" y="28637269"/>
              <a:ext cx="53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5D</a:t>
              </a:r>
              <a:endParaRPr lang="ko-KR" altLang="en-US" sz="24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D27C68-8E5F-98AA-AF3C-87F5C12EBADB}"/>
              </a:ext>
            </a:extLst>
          </p:cNvPr>
          <p:cNvSpPr txBox="1"/>
          <p:nvPr/>
        </p:nvSpPr>
        <p:spPr>
          <a:xfrm>
            <a:off x="1592336" y="6011032"/>
            <a:ext cx="4115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002060"/>
                </a:solidFill>
              </a:rPr>
              <a:t>Perfromance</a:t>
            </a:r>
            <a:r>
              <a:rPr lang="en-US" altLang="ko-KR" sz="2000" b="1" dirty="0">
                <a:solidFill>
                  <a:srgbClr val="002060"/>
                </a:solidFill>
              </a:rPr>
              <a:t> Chamber Analogy</a:t>
            </a:r>
            <a:endParaRPr lang="ko-KR" altLang="en-US" sz="2000" b="1" dirty="0">
              <a:solidFill>
                <a:srgbClr val="002060"/>
              </a:solidFill>
            </a:endParaRP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Software Design Methods &amp; Procedures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CFD Domain Example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05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113643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38DCF-4C57-5FA2-5040-6DB4696C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DA8DD57-6624-CB53-720D-0FF17F224841}"/>
              </a:ext>
            </a:extLst>
          </p:cNvPr>
          <p:cNvGrpSpPr>
            <a:grpSpLocks noChangeAspect="1"/>
          </p:cNvGrpSpPr>
          <p:nvPr/>
        </p:nvGrpSpPr>
        <p:grpSpPr>
          <a:xfrm>
            <a:off x="974954" y="914215"/>
            <a:ext cx="10047539" cy="2575166"/>
            <a:chOff x="11242536" y="11629391"/>
            <a:chExt cx="15412698" cy="395024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8907032-4387-0F19-5834-716C8A98F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42536" y="11642368"/>
              <a:ext cx="7045636" cy="393726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66C2916-BFD1-D095-261F-DF51F0557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890353" y="11629391"/>
              <a:ext cx="6764881" cy="3016771"/>
            </a:xfrm>
            <a:prstGeom prst="rect">
              <a:avLst/>
            </a:prstGeom>
          </p:spPr>
        </p:pic>
        <p:cxnSp>
          <p:nvCxnSpPr>
            <p:cNvPr id="6" name="연결선: 구부러짐 5">
              <a:extLst>
                <a:ext uri="{FF2B5EF4-FFF2-40B4-BE49-F238E27FC236}">
                  <a16:creationId xmlns:a16="http://schemas.microsoft.com/office/drawing/2014/main" id="{4E3234E0-55F6-9B95-4361-9AD958715D3D}"/>
                </a:ext>
              </a:extLst>
            </p:cNvPr>
            <p:cNvCxnSpPr>
              <a:cxnSpLocks/>
              <a:stCxn id="4" idx="1"/>
              <a:endCxn id="3" idx="3"/>
            </p:cNvCxnSpPr>
            <p:nvPr/>
          </p:nvCxnSpPr>
          <p:spPr>
            <a:xfrm rot="10800000" flipV="1">
              <a:off x="18288173" y="13137776"/>
              <a:ext cx="1602181" cy="473225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C0BBB55-4653-3C91-7DEA-967ECD807087}"/>
              </a:ext>
            </a:extLst>
          </p:cNvPr>
          <p:cNvGrpSpPr>
            <a:grpSpLocks noChangeAspect="1"/>
          </p:cNvGrpSpPr>
          <p:nvPr/>
        </p:nvGrpSpPr>
        <p:grpSpPr>
          <a:xfrm>
            <a:off x="78745" y="4047601"/>
            <a:ext cx="4865437" cy="2096939"/>
            <a:chOff x="21191395" y="5338653"/>
            <a:chExt cx="11335448" cy="488542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54A4EC9-B325-CD47-0FF3-E32A32DF2B08}"/>
                </a:ext>
              </a:extLst>
            </p:cNvPr>
            <p:cNvGrpSpPr/>
            <p:nvPr/>
          </p:nvGrpSpPr>
          <p:grpSpPr>
            <a:xfrm>
              <a:off x="21742714" y="6395268"/>
              <a:ext cx="9863421" cy="3828805"/>
              <a:chOff x="21172872" y="6019239"/>
              <a:chExt cx="9863421" cy="3828805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23351A47-2B43-DF1B-FE61-B922E3D8107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172872" y="6170495"/>
                <a:ext cx="9863421" cy="3677549"/>
                <a:chOff x="12332085" y="8055550"/>
                <a:chExt cx="9863421" cy="3677549"/>
              </a:xfrm>
            </p:grpSpPr>
            <p:pic>
              <p:nvPicPr>
                <p:cNvPr id="13" name="그림 12">
                  <a:extLst>
                    <a:ext uri="{FF2B5EF4-FFF2-40B4-BE49-F238E27FC236}">
                      <a16:creationId xmlns:a16="http://schemas.microsoft.com/office/drawing/2014/main" id="{96052AD5-F6B9-F35A-97A8-A4C0FC1107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332085" y="8055550"/>
                  <a:ext cx="9863421" cy="3677549"/>
                </a:xfrm>
                <a:prstGeom prst="rect">
                  <a:avLst/>
                </a:prstGeom>
              </p:spPr>
            </p:pic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FB87362-604A-B48D-6D3C-BA9D4B2D4CA9}"/>
                    </a:ext>
                  </a:extLst>
                </p:cNvPr>
                <p:cNvSpPr txBox="1"/>
                <p:nvPr/>
              </p:nvSpPr>
              <p:spPr>
                <a:xfrm>
                  <a:off x="18630900" y="8073571"/>
                  <a:ext cx="609600" cy="2462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ko-KR" altLang="en-US" sz="1000" dirty="0"/>
                </a:p>
              </p:txBody>
            </p:sp>
          </p:grpSp>
          <p:sp>
            <p:nvSpPr>
              <p:cNvPr id="12" name="TextBox 105">
                <a:extLst>
                  <a:ext uri="{FF2B5EF4-FFF2-40B4-BE49-F238E27FC236}">
                    <a16:creationId xmlns:a16="http://schemas.microsoft.com/office/drawing/2014/main" id="{CFB296EF-A472-4038-9B7D-CC52500196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57362" y="6019239"/>
                <a:ext cx="4494440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lvl="0" algn="ctr" defTabSz="914400" eaLnBrk="1" hangingPunct="1">
                  <a:defRPr/>
                </a:pPr>
                <a:endParaRPr lang="en-US" sz="1600" b="1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" name="TextBox 105">
              <a:extLst>
                <a:ext uri="{FF2B5EF4-FFF2-40B4-BE49-F238E27FC236}">
                  <a16:creationId xmlns:a16="http://schemas.microsoft.com/office/drawing/2014/main" id="{C8738076-10C3-809C-5C96-055AC9CB9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91395" y="5338653"/>
              <a:ext cx="11335448" cy="932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0" algn="ctr" defTabSz="914400" eaLnBrk="1" hangingPunct="1">
                <a:defRPr/>
              </a:pPr>
              <a:r>
                <a:rPr lang="en-US" sz="2000" b="1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GPR surrogate model accuracy</a:t>
              </a:r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0182543-1A48-34A6-8D73-501CD7331DC0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flipH="1">
            <a:off x="2511464" y="3489381"/>
            <a:ext cx="760016" cy="55822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9481CC7-E04C-D689-A1D0-9FDC8B268D03}"/>
              </a:ext>
            </a:extLst>
          </p:cNvPr>
          <p:cNvGrpSpPr/>
          <p:nvPr/>
        </p:nvGrpSpPr>
        <p:grpSpPr>
          <a:xfrm>
            <a:off x="4899938" y="2986356"/>
            <a:ext cx="3457369" cy="3535753"/>
            <a:chOff x="21952293" y="24758421"/>
            <a:chExt cx="3457369" cy="3679322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E93E850-547B-3365-635B-1419A286E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241" r="1035"/>
            <a:stretch>
              <a:fillRect/>
            </a:stretch>
          </p:blipFill>
          <p:spPr>
            <a:xfrm>
              <a:off x="21952293" y="25532844"/>
              <a:ext cx="3457369" cy="2904899"/>
            </a:xfrm>
            <a:prstGeom prst="rect">
              <a:avLst/>
            </a:prstGeom>
          </p:spPr>
        </p:pic>
        <p:sp>
          <p:nvSpPr>
            <p:cNvPr id="33" name="TextBox 105">
              <a:extLst>
                <a:ext uri="{FF2B5EF4-FFF2-40B4-BE49-F238E27FC236}">
                  <a16:creationId xmlns:a16="http://schemas.microsoft.com/office/drawing/2014/main" id="{622D8BD8-1428-F279-E367-F1A8644A1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2915" y="24758421"/>
              <a:ext cx="3256124" cy="736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0" algn="ctr" defTabSz="914400" eaLnBrk="1" hangingPunct="1">
                <a:defRPr/>
              </a:pPr>
              <a:r>
                <a:rPr lang="en-US" sz="2000" b="1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Global Exploring for</a:t>
              </a:r>
            </a:p>
            <a:p>
              <a:pPr lvl="0" algn="ctr" defTabSz="914400" eaLnBrk="1" hangingPunct="1">
                <a:defRPr/>
              </a:pPr>
              <a:r>
                <a:rPr lang="en-US" sz="2000" b="1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 Efficiency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5379A7F-414E-C91C-9021-532FD265F434}"/>
              </a:ext>
            </a:extLst>
          </p:cNvPr>
          <p:cNvGrpSpPr/>
          <p:nvPr/>
        </p:nvGrpSpPr>
        <p:grpSpPr>
          <a:xfrm>
            <a:off x="8797015" y="2986356"/>
            <a:ext cx="3102623" cy="3359791"/>
            <a:chOff x="12177530" y="4133295"/>
            <a:chExt cx="3102623" cy="3359791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5B8C3E2-9A20-D131-9CA5-FD65D4C5B04E}"/>
                </a:ext>
              </a:extLst>
            </p:cNvPr>
            <p:cNvGrpSpPr/>
            <p:nvPr/>
          </p:nvGrpSpPr>
          <p:grpSpPr>
            <a:xfrm>
              <a:off x="12229872" y="5070482"/>
              <a:ext cx="3050281" cy="2422604"/>
              <a:chOff x="27622085" y="10956436"/>
              <a:chExt cx="3050281" cy="2422604"/>
            </a:xfrm>
          </p:grpSpPr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7939D5D4-6D4C-9200-2631-6AF2F3425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7622085" y="10984245"/>
                <a:ext cx="3050281" cy="2394795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CD4F7B-1A81-0517-862F-E25BEFEA1D09}"/>
                  </a:ext>
                </a:extLst>
              </p:cNvPr>
              <p:cNvSpPr txBox="1"/>
              <p:nvPr/>
            </p:nvSpPr>
            <p:spPr>
              <a:xfrm>
                <a:off x="28022791" y="10956436"/>
                <a:ext cx="2474398" cy="1633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ko-KR" altLang="en-US" sz="400" dirty="0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5FD8CCA-FACF-DD85-5AA1-049D4DD663C8}"/>
                </a:ext>
              </a:extLst>
            </p:cNvPr>
            <p:cNvSpPr txBox="1"/>
            <p:nvPr/>
          </p:nvSpPr>
          <p:spPr>
            <a:xfrm>
              <a:off x="12177530" y="4133295"/>
              <a:ext cx="301423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>
                <a:defRPr/>
              </a:pPr>
              <a:r>
                <a:rPr lang="en-US" altLang="ko-KR" sz="2000" b="1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Local Exploring for</a:t>
              </a:r>
            </a:p>
            <a:p>
              <a:pPr lvl="0" algn="ctr" defTabSz="914400">
                <a:defRPr/>
              </a:pPr>
              <a:r>
                <a:rPr lang="en-US" altLang="ko-KR" sz="2000" b="1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 Efficiency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610165D-3996-8830-E7EC-A3FA2D760AB3}"/>
              </a:ext>
            </a:extLst>
          </p:cNvPr>
          <p:cNvCxnSpPr>
            <a:cxnSpLocks/>
          </p:cNvCxnSpPr>
          <p:nvPr/>
        </p:nvCxnSpPr>
        <p:spPr>
          <a:xfrm>
            <a:off x="8357307" y="5126335"/>
            <a:ext cx="407694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21A1F85-E2E6-0B92-DA1B-B19650B3CFE9}"/>
              </a:ext>
            </a:extLst>
          </p:cNvPr>
          <p:cNvCxnSpPr>
            <a:cxnSpLocks/>
          </p:cNvCxnSpPr>
          <p:nvPr/>
        </p:nvCxnSpPr>
        <p:spPr>
          <a:xfrm>
            <a:off x="4183395" y="3447462"/>
            <a:ext cx="892755" cy="539267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Multi-Fidelity Design of 3D Turbo Centrifugal Fan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Optimization Method by Machine Learning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06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30010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07BF-BC17-81BA-1E31-805B8CFE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그림 57">
            <a:extLst>
              <a:ext uri="{FF2B5EF4-FFF2-40B4-BE49-F238E27FC236}">
                <a16:creationId xmlns:a16="http://schemas.microsoft.com/office/drawing/2014/main" id="{0D247D75-E1FB-307C-0F85-C667549B1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" b="139"/>
          <a:stretch/>
        </p:blipFill>
        <p:spPr>
          <a:xfrm>
            <a:off x="4462338" y="835282"/>
            <a:ext cx="2872917" cy="2748062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4C776A6F-D732-1F93-B8C7-EDA785605C2F}"/>
              </a:ext>
            </a:extLst>
          </p:cNvPr>
          <p:cNvGrpSpPr>
            <a:grpSpLocks noChangeAspect="1"/>
          </p:cNvGrpSpPr>
          <p:nvPr/>
        </p:nvGrpSpPr>
        <p:grpSpPr>
          <a:xfrm>
            <a:off x="8336174" y="999990"/>
            <a:ext cx="2507806" cy="2385946"/>
            <a:chOff x="3203110" y="2863024"/>
            <a:chExt cx="29650659" cy="28209808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44BA5941-AD47-F720-8B53-EDFBC15A940C}"/>
                </a:ext>
              </a:extLst>
            </p:cNvPr>
            <p:cNvGrpSpPr/>
            <p:nvPr/>
          </p:nvGrpSpPr>
          <p:grpSpPr>
            <a:xfrm>
              <a:off x="3203110" y="3009900"/>
              <a:ext cx="6668434" cy="28062932"/>
              <a:chOff x="3203110" y="3009900"/>
              <a:chExt cx="6668434" cy="28062932"/>
            </a:xfrm>
          </p:grpSpPr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5CF93F24-B709-0492-6686-D912695325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111" y="3009900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77" name="그림 76">
                <a:extLst>
                  <a:ext uri="{FF2B5EF4-FFF2-40B4-BE49-F238E27FC236}">
                    <a16:creationId xmlns:a16="http://schemas.microsoft.com/office/drawing/2014/main" id="{B1D272B2-B54B-ACC8-59B3-A73D491131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113" y="10141400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78" name="그림 77">
                <a:extLst>
                  <a:ext uri="{FF2B5EF4-FFF2-40B4-BE49-F238E27FC236}">
                    <a16:creationId xmlns:a16="http://schemas.microsoft.com/office/drawing/2014/main" id="{4432078D-5210-33FF-AA4E-BAD2350B20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110" y="17223940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79" name="그림 78">
                <a:extLst>
                  <a:ext uri="{FF2B5EF4-FFF2-40B4-BE49-F238E27FC236}">
                    <a16:creationId xmlns:a16="http://schemas.microsoft.com/office/drawing/2014/main" id="{641F3312-3097-1695-0158-66CB239A1F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112" y="24404401"/>
                <a:ext cx="6668431" cy="6668431"/>
              </a:xfrm>
              <a:prstGeom prst="rect">
                <a:avLst/>
              </a:prstGeom>
            </p:spPr>
          </p:pic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5148708-D979-CF2A-15A0-69C7A9B79E22}"/>
                </a:ext>
              </a:extLst>
            </p:cNvPr>
            <p:cNvGrpSpPr/>
            <p:nvPr/>
          </p:nvGrpSpPr>
          <p:grpSpPr>
            <a:xfrm>
              <a:off x="10801258" y="2863024"/>
              <a:ext cx="6786271" cy="28209807"/>
              <a:chOff x="10861848" y="2863024"/>
              <a:chExt cx="6786271" cy="28209807"/>
            </a:xfrm>
          </p:grpSpPr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638A4609-6848-E65A-4879-2E542B4EE7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61848" y="2863024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73" name="그림 72">
                <a:extLst>
                  <a:ext uri="{FF2B5EF4-FFF2-40B4-BE49-F238E27FC236}">
                    <a16:creationId xmlns:a16="http://schemas.microsoft.com/office/drawing/2014/main" id="{E9AB873C-93A0-3553-5880-877966B9B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61849" y="10043485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74" name="그림 73">
                <a:extLst>
                  <a:ext uri="{FF2B5EF4-FFF2-40B4-BE49-F238E27FC236}">
                    <a16:creationId xmlns:a16="http://schemas.microsoft.com/office/drawing/2014/main" id="{F35C8134-84C1-79AE-799D-7BE3C69B95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79688" y="17223943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F5B0AA2E-C220-C133-DA54-E392D7329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61849" y="24404400"/>
                <a:ext cx="6668431" cy="6668431"/>
              </a:xfrm>
              <a:prstGeom prst="rect">
                <a:avLst/>
              </a:prstGeom>
            </p:spPr>
          </p:pic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F6E7AF21-FE4C-7DA7-4866-F82C36B26F82}"/>
                </a:ext>
              </a:extLst>
            </p:cNvPr>
            <p:cNvGrpSpPr/>
            <p:nvPr/>
          </p:nvGrpSpPr>
          <p:grpSpPr>
            <a:xfrm>
              <a:off x="18517243" y="2863024"/>
              <a:ext cx="6730359" cy="28209806"/>
              <a:chOff x="18520585" y="2863024"/>
              <a:chExt cx="6730359" cy="28209806"/>
            </a:xfrm>
          </p:grpSpPr>
          <p:pic>
            <p:nvPicPr>
              <p:cNvPr id="68" name="그림 67">
                <a:extLst>
                  <a:ext uri="{FF2B5EF4-FFF2-40B4-BE49-F238E27FC236}">
                    <a16:creationId xmlns:a16="http://schemas.microsoft.com/office/drawing/2014/main" id="{10C18701-CDE2-5F83-C64A-B4CEA8C61E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20585" y="2863024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69" name="그림 68">
                <a:extLst>
                  <a:ext uri="{FF2B5EF4-FFF2-40B4-BE49-F238E27FC236}">
                    <a16:creationId xmlns:a16="http://schemas.microsoft.com/office/drawing/2014/main" id="{A07F0D9B-C900-F1BF-B5B5-B19388B40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20585" y="10052842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41944D98-24F7-9495-C2AC-671B3C787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82513" y="17228620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E0741C11-E193-7245-C2D0-5D9B64C54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20586" y="24404399"/>
                <a:ext cx="6668431" cy="6668431"/>
              </a:xfrm>
              <a:prstGeom prst="rect">
                <a:avLst/>
              </a:prstGeom>
            </p:spPr>
          </p:pic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69F46187-2A35-7F69-574D-0771E8E2B6F1}"/>
                </a:ext>
              </a:extLst>
            </p:cNvPr>
            <p:cNvGrpSpPr/>
            <p:nvPr/>
          </p:nvGrpSpPr>
          <p:grpSpPr>
            <a:xfrm>
              <a:off x="26177317" y="2863025"/>
              <a:ext cx="6676452" cy="28209804"/>
              <a:chOff x="26177317" y="2863025"/>
              <a:chExt cx="6676452" cy="28209804"/>
            </a:xfrm>
          </p:grpSpPr>
          <p:pic>
            <p:nvPicPr>
              <p:cNvPr id="64" name="그림 63">
                <a:extLst>
                  <a:ext uri="{FF2B5EF4-FFF2-40B4-BE49-F238E27FC236}">
                    <a16:creationId xmlns:a16="http://schemas.microsoft.com/office/drawing/2014/main" id="{51D9EF89-3174-46DA-00E9-39ECE5F885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77317" y="2863025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65" name="그림 64">
                <a:extLst>
                  <a:ext uri="{FF2B5EF4-FFF2-40B4-BE49-F238E27FC236}">
                    <a16:creationId xmlns:a16="http://schemas.microsoft.com/office/drawing/2014/main" id="{59507029-1FCD-4C40-1F06-AED4297E7F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79322" y="10043483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303DF931-C2AA-223A-BE3C-ABED058F4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85338" y="17223940"/>
                <a:ext cx="6668431" cy="6668431"/>
              </a:xfrm>
              <a:prstGeom prst="rect">
                <a:avLst/>
              </a:prstGeom>
            </p:spPr>
          </p:pic>
          <p:pic>
            <p:nvPicPr>
              <p:cNvPr id="67" name="그림 66">
                <a:extLst>
                  <a:ext uri="{FF2B5EF4-FFF2-40B4-BE49-F238E27FC236}">
                    <a16:creationId xmlns:a16="http://schemas.microsoft.com/office/drawing/2014/main" id="{75E7A314-750A-D729-450A-F7417FAD3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79322" y="24404398"/>
                <a:ext cx="6668431" cy="6668431"/>
              </a:xfrm>
              <a:prstGeom prst="rect">
                <a:avLst/>
              </a:prstGeom>
            </p:spPr>
          </p:pic>
        </p:grpSp>
      </p:grpSp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308870BC-A017-9443-E1F8-F5E2696F59D4}"/>
              </a:ext>
            </a:extLst>
          </p:cNvPr>
          <p:cNvSpPr/>
          <p:nvPr/>
        </p:nvSpPr>
        <p:spPr>
          <a:xfrm>
            <a:off x="3908704" y="1999056"/>
            <a:ext cx="722599" cy="45888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F7DA0C-98E9-C7E7-200A-96782E6C21AF}"/>
              </a:ext>
            </a:extLst>
          </p:cNvPr>
          <p:cNvSpPr txBox="1"/>
          <p:nvPr/>
        </p:nvSpPr>
        <p:spPr>
          <a:xfrm>
            <a:off x="856224" y="1399954"/>
            <a:ext cx="3716686" cy="249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1600" dirty="0"/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453D3EA7-9CFE-FB04-AEFC-C81E901621C6}"/>
              </a:ext>
            </a:extLst>
          </p:cNvPr>
          <p:cNvGrpSpPr/>
          <p:nvPr/>
        </p:nvGrpSpPr>
        <p:grpSpPr>
          <a:xfrm>
            <a:off x="178492" y="927644"/>
            <a:ext cx="3763169" cy="2430228"/>
            <a:chOff x="20136" y="1673316"/>
            <a:chExt cx="3763169" cy="2430228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07BD6982-136A-94E6-5105-970039E8E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17" b="5098"/>
            <a:stretch>
              <a:fillRect/>
            </a:stretch>
          </p:blipFill>
          <p:spPr>
            <a:xfrm>
              <a:off x="20136" y="1673316"/>
              <a:ext cx="3763169" cy="2430228"/>
            </a:xfrm>
            <a:prstGeom prst="rect">
              <a:avLst/>
            </a:prstGeom>
          </p:spPr>
        </p:pic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6B1A7D22-5DEC-F9A3-290F-7592D13E6AD2}"/>
                </a:ext>
              </a:extLst>
            </p:cNvPr>
            <p:cNvSpPr/>
            <p:nvPr/>
          </p:nvSpPr>
          <p:spPr>
            <a:xfrm>
              <a:off x="3058617" y="2168698"/>
              <a:ext cx="599091" cy="231602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7" name="화살표: 오른쪽 86">
            <a:extLst>
              <a:ext uri="{FF2B5EF4-FFF2-40B4-BE49-F238E27FC236}">
                <a16:creationId xmlns:a16="http://schemas.microsoft.com/office/drawing/2014/main" id="{96EA5706-3750-DF4E-EDB8-0DBDC1E83D4A}"/>
              </a:ext>
            </a:extLst>
          </p:cNvPr>
          <p:cNvSpPr/>
          <p:nvPr/>
        </p:nvSpPr>
        <p:spPr>
          <a:xfrm rot="10800000">
            <a:off x="7405244" y="1971419"/>
            <a:ext cx="661340" cy="47578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1DB46DA8-713F-A1BC-0171-4FAD27687DF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1" b="1671"/>
          <a:stretch/>
        </p:blipFill>
        <p:spPr>
          <a:xfrm>
            <a:off x="10931901" y="1244787"/>
            <a:ext cx="815649" cy="2075860"/>
          </a:xfrm>
          <a:prstGeom prst="rect">
            <a:avLst/>
          </a:prstGeom>
        </p:spPr>
      </p:pic>
      <p:sp>
        <p:nvSpPr>
          <p:cNvPr id="89" name="TextBox 105">
            <a:extLst>
              <a:ext uri="{FF2B5EF4-FFF2-40B4-BE49-F238E27FC236}">
                <a16:creationId xmlns:a16="http://schemas.microsoft.com/office/drawing/2014/main" id="{691801F8-0E3E-1B9A-6786-888D110B0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8287" y="3348614"/>
            <a:ext cx="328010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ctr" defTabSz="914400" eaLnBrk="1" hangingPunct="1">
              <a:defRPr/>
            </a:pPr>
            <a:r>
              <a:rPr lang="en-US" sz="2000" b="1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Vorticity </a:t>
            </a:r>
            <a:r>
              <a:rPr lang="en-US" sz="2000" b="1" kern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Isosurfaces</a:t>
            </a:r>
            <a:endParaRPr lang="en-US" sz="2000" b="1" kern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eaLnBrk="1" hangingPunct="1">
              <a:defRPr/>
            </a:pPr>
            <a:r>
              <a:rPr lang="en-US" sz="2000" b="1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ko-KR" sz="2000" b="1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LHS Fans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B203849-7D5D-F2E2-717B-F0AECF3DE5FF}"/>
              </a:ext>
            </a:extLst>
          </p:cNvPr>
          <p:cNvGrpSpPr/>
          <p:nvPr/>
        </p:nvGrpSpPr>
        <p:grpSpPr>
          <a:xfrm>
            <a:off x="226555" y="4102837"/>
            <a:ext cx="2839733" cy="2539304"/>
            <a:chOff x="27341474" y="21178224"/>
            <a:chExt cx="2839733" cy="2539304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4FFEB131-89F3-6E27-D6B7-120BC06175C1}"/>
                </a:ext>
              </a:extLst>
            </p:cNvPr>
            <p:cNvGrpSpPr/>
            <p:nvPr/>
          </p:nvGrpSpPr>
          <p:grpSpPr>
            <a:xfrm>
              <a:off x="27341474" y="21178224"/>
              <a:ext cx="2839733" cy="2539304"/>
              <a:chOff x="17931425" y="20825030"/>
              <a:chExt cx="2839733" cy="2539304"/>
            </a:xfrm>
          </p:grpSpPr>
          <p:grpSp>
            <p:nvGrpSpPr>
              <p:cNvPr id="96" name="그룹 95">
                <a:extLst>
                  <a:ext uri="{FF2B5EF4-FFF2-40B4-BE49-F238E27FC236}">
                    <a16:creationId xmlns:a16="http://schemas.microsoft.com/office/drawing/2014/main" id="{E727DED4-CE90-9235-AD45-FE1DE5ADC0E3}"/>
                  </a:ext>
                </a:extLst>
              </p:cNvPr>
              <p:cNvGrpSpPr/>
              <p:nvPr/>
            </p:nvGrpSpPr>
            <p:grpSpPr>
              <a:xfrm>
                <a:off x="17931425" y="20953148"/>
                <a:ext cx="2839733" cy="2411186"/>
                <a:chOff x="19619983" y="20982018"/>
                <a:chExt cx="2839733" cy="2411186"/>
              </a:xfrm>
            </p:grpSpPr>
            <p:pic>
              <p:nvPicPr>
                <p:cNvPr id="98" name="그림 97">
                  <a:extLst>
                    <a:ext uri="{FF2B5EF4-FFF2-40B4-BE49-F238E27FC236}">
                      <a16:creationId xmlns:a16="http://schemas.microsoft.com/office/drawing/2014/main" id="{EA5313F3-6A4D-29F4-2E0E-C75916ED9F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9619983" y="20982018"/>
                  <a:ext cx="2276919" cy="2411186"/>
                </a:xfrm>
                <a:prstGeom prst="rect">
                  <a:avLst/>
                </a:prstGeom>
              </p:spPr>
            </p:pic>
            <p:pic>
              <p:nvPicPr>
                <p:cNvPr id="99" name="그림 98">
                  <a:extLst>
                    <a:ext uri="{FF2B5EF4-FFF2-40B4-BE49-F238E27FC236}">
                      <a16:creationId xmlns:a16="http://schemas.microsoft.com/office/drawing/2014/main" id="{36711875-9BC9-438E-C57B-26E3F0A55D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21888375" y="21036469"/>
                  <a:ext cx="571341" cy="1996548"/>
                </a:xfrm>
                <a:prstGeom prst="rect">
                  <a:avLst/>
                </a:prstGeom>
              </p:spPr>
            </p:pic>
          </p:grpSp>
          <p:cxnSp>
            <p:nvCxnSpPr>
              <p:cNvPr id="97" name="직선 화살표 연결선 96">
                <a:extLst>
                  <a:ext uri="{FF2B5EF4-FFF2-40B4-BE49-F238E27FC236}">
                    <a16:creationId xmlns:a16="http://schemas.microsoft.com/office/drawing/2014/main" id="{CD2005D3-E767-E770-AD49-5696E8D29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67023" y="20825030"/>
                <a:ext cx="0" cy="820082"/>
              </a:xfrm>
              <a:prstGeom prst="straightConnector1">
                <a:avLst/>
              </a:prstGeom>
              <a:ln w="571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69ED4A8E-F304-A7AD-4BA6-D21256CC2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31029" y="22208228"/>
              <a:ext cx="683488" cy="360730"/>
            </a:xfrm>
            <a:prstGeom prst="rect">
              <a:avLst/>
            </a:prstGeom>
          </p:spPr>
        </p:pic>
        <p:sp>
          <p:nvSpPr>
            <p:cNvPr id="95" name="화살표: 왼쪽으로 구부러짐 94">
              <a:extLst>
                <a:ext uri="{FF2B5EF4-FFF2-40B4-BE49-F238E27FC236}">
                  <a16:creationId xmlns:a16="http://schemas.microsoft.com/office/drawing/2014/main" id="{FFF9597E-365E-366D-E8B0-B0933DFC49E9}"/>
                </a:ext>
              </a:extLst>
            </p:cNvPr>
            <p:cNvSpPr/>
            <p:nvPr/>
          </p:nvSpPr>
          <p:spPr>
            <a:xfrm>
              <a:off x="28330195" y="21465655"/>
              <a:ext cx="493754" cy="282199"/>
            </a:xfrm>
            <a:prstGeom prst="curvedLef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5">
                <a:extLst>
                  <a:ext uri="{FF2B5EF4-FFF2-40B4-BE49-F238E27FC236}">
                    <a16:creationId xmlns:a16="http://schemas.microsoft.com/office/drawing/2014/main" id="{1982AFCB-6867-39E8-DD54-A9DEC77CA3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4859" y="3735786"/>
                <a:ext cx="3704429" cy="111690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571500" lvl="0" indent="-571500" defTabSz="914400" eaLnBrk="1" hangingPunct="1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ko-KR" altLang="en-US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(</m:t>
                        </m:r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𝑐𝑙𝑒𝑎𝑟𝑎𝑛𝑐𝑒</m:t>
                        </m:r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den>
                    </m:f>
                    <m:r>
                      <a:rPr lang="en-US" altLang="ko-KR" sz="1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:7.94</m:t>
                    </m:r>
                    <m:r>
                      <a:rPr lang="en-US" altLang="ko-KR" sz="1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sSup>
                      <m:sSupPr>
                        <m:ctrlPr>
                          <a:rPr lang="en-US" altLang="ko-KR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altLang="ko-KR" sz="1800" b="0" i="1" kern="0" dirty="0">
                  <a:solidFill>
                    <a:srgbClr val="00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571500" lvl="0" indent="-571500" defTabSz="914400" eaLnBrk="1" hangingPunct="1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altLang="ko-KR" sz="1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𝑅𝑒</m:t>
                    </m:r>
                    <m:r>
                      <a:rPr lang="en-US" altLang="ko-KR" sz="1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:1.38∗</m:t>
                    </m:r>
                    <m:sSup>
                      <m:sSupPr>
                        <m:ctrlP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1800" i="1" kern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lvl="0" indent="-571500" defTabSz="914400" eaLnBrk="1" hangingPunct="1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  <m:r>
                      <a:rPr lang="en-US" altLang="ko-KR" sz="1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box>
                      <m:boxPr>
                        <m:ctrlPr>
                          <a:rPr lang="en-US" altLang="ko-KR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ko-KR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  <m:sSup>
                              <m:sSupPr>
                                <m:ctrlPr>
                                  <a:rPr lang="en-US" altLang="ko-KR" sz="18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altLang="ko-KR" sz="18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0.5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ko-KR" sz="18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sz="18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(∆</m:t>
                                    </m:r>
                                    <m:r>
                                      <a:rPr lang="en-US" altLang="ko-KR" sz="18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sz="18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a:rPr lang="ko-KR" altLang="en-US" sz="18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𝜌</m:t>
                                </m:r>
                                <m:r>
                                  <a:rPr lang="en-US" altLang="ko-KR" sz="18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sz="18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0.75</m:t>
                                </m:r>
                              </m:sup>
                            </m:sSup>
                          </m:den>
                        </m:f>
                        <m:r>
                          <a:rPr lang="en-US" altLang="ko-KR" sz="1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e>
                    </m:box>
                    <m:r>
                      <a:rPr lang="en-US" altLang="ko-KR" sz="1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:1.74 ~ 2.32</m:t>
                    </m:r>
                  </m:oMath>
                </a14:m>
                <a:r>
                  <a:rPr lang="en-US" sz="1800" i="1" kern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3" name="TextBox 105">
                <a:extLst>
                  <a:ext uri="{FF2B5EF4-FFF2-40B4-BE49-F238E27FC236}">
                    <a16:creationId xmlns:a16="http://schemas.microsoft.com/office/drawing/2014/main" id="{1982AFCB-6867-39E8-DD54-A9DEC77CA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4859" y="3735786"/>
                <a:ext cx="3704429" cy="1116909"/>
              </a:xfrm>
              <a:prstGeom prst="rect">
                <a:avLst/>
              </a:prstGeom>
              <a:blipFill>
                <a:blip r:embed="rId25"/>
                <a:stretch>
                  <a:fillRect l="-985" t="-37297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9691BAF-BB42-4CF9-FB01-880B620459BA}"/>
                  </a:ext>
                </a:extLst>
              </p:cNvPr>
              <p:cNvSpPr txBox="1"/>
              <p:nvPr/>
            </p:nvSpPr>
            <p:spPr>
              <a:xfrm rot="10800000" flipV="1">
                <a:off x="3425934" y="4985910"/>
                <a:ext cx="4587667" cy="1526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𝑀𝑐𝑜𝑠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1+(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ko-KR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𝐿𝑜𝑔</m:t>
                    </m:r>
                    <m:r>
                      <a:rPr lang="en-US" altLang="ko-KR" b="0" i="1" baseline="-2500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ko-KR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ko-KR" b="0" i="1" baseline="30000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acc>
                          <m:accPr>
                            <m:chr m:val="̅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/>
                  <a:t>) +G</a:t>
                </a:r>
                <a:r>
                  <a:rPr lang="en-US" altLang="ko-KR" baseline="-25000" dirty="0"/>
                  <a:t>B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𝑆𝑡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𝑆𝑡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b="0" i="1" baseline="-2500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ko-KR" altLang="en-US" dirty="0"/>
                  <a:t>  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9691BAF-BB42-4CF9-FB01-880B62045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425934" y="4985910"/>
                <a:ext cx="4587667" cy="1526572"/>
              </a:xfrm>
              <a:prstGeom prst="rect">
                <a:avLst/>
              </a:prstGeom>
              <a:blipFill>
                <a:blip r:embed="rId26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5">
            <a:extLst>
              <a:ext uri="{FF2B5EF4-FFF2-40B4-BE49-F238E27FC236}">
                <a16:creationId xmlns:a16="http://schemas.microsoft.com/office/drawing/2014/main" id="{950C0E40-CE8F-A4C8-84AF-369A602CA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2" y="3459010"/>
            <a:ext cx="39728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ctr" defTabSz="914400" eaLnBrk="1" hangingPunct="1">
              <a:defRPr/>
            </a:pPr>
            <a:r>
              <a:rPr lang="en-US" sz="2000" b="1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L.F. Model Sound </a:t>
            </a:r>
          </a:p>
          <a:p>
            <a:pPr lvl="0" algn="ctr" defTabSz="914400" eaLnBrk="1" hangingPunct="1">
              <a:defRPr/>
            </a:pPr>
            <a:r>
              <a:rPr lang="en-US" sz="2000" b="1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 Example (LF#4)</a:t>
            </a:r>
          </a:p>
        </p:txBody>
      </p:sp>
      <p:pic>
        <p:nvPicPr>
          <p:cNvPr id="111" name="그림 110">
            <a:extLst>
              <a:ext uri="{FF2B5EF4-FFF2-40B4-BE49-F238E27FC236}">
                <a16:creationId xmlns:a16="http://schemas.microsoft.com/office/drawing/2014/main" id="{FE6C0911-36D1-9950-F5BB-6AF45D342FE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35016" y="5366732"/>
            <a:ext cx="704709" cy="809105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4A45BCE1-2E01-4F6D-B008-CAD058F7DE3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0205" y="4154801"/>
            <a:ext cx="1839950" cy="1842578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6A3E1965-2A00-18BC-5AC2-0CB39000CC0B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" t="1424" r="2237" b="1343"/>
          <a:stretch>
            <a:fillRect/>
          </a:stretch>
        </p:blipFill>
        <p:spPr>
          <a:xfrm>
            <a:off x="10179801" y="4140655"/>
            <a:ext cx="1479276" cy="1200745"/>
          </a:xfrm>
          <a:prstGeom prst="rect">
            <a:avLst/>
          </a:prstGeom>
        </p:spPr>
      </p:pic>
      <p:sp>
        <p:nvSpPr>
          <p:cNvPr id="117" name="타원 116">
            <a:extLst>
              <a:ext uri="{FF2B5EF4-FFF2-40B4-BE49-F238E27FC236}">
                <a16:creationId xmlns:a16="http://schemas.microsoft.com/office/drawing/2014/main" id="{C770A1B9-2979-D691-4536-33EB90E8FF48}"/>
              </a:ext>
            </a:extLst>
          </p:cNvPr>
          <p:cNvSpPr/>
          <p:nvPr/>
        </p:nvSpPr>
        <p:spPr>
          <a:xfrm>
            <a:off x="8511481" y="4452274"/>
            <a:ext cx="1097757" cy="8932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9" name="화살표: 오른쪽 118">
            <a:extLst>
              <a:ext uri="{FF2B5EF4-FFF2-40B4-BE49-F238E27FC236}">
                <a16:creationId xmlns:a16="http://schemas.microsoft.com/office/drawing/2014/main" id="{90AF90C7-92F0-3C13-68C7-1E62EC4C278C}"/>
              </a:ext>
            </a:extLst>
          </p:cNvPr>
          <p:cNvSpPr/>
          <p:nvPr/>
        </p:nvSpPr>
        <p:spPr>
          <a:xfrm>
            <a:off x="9673186" y="4729945"/>
            <a:ext cx="480470" cy="33586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05">
            <a:extLst>
              <a:ext uri="{FF2B5EF4-FFF2-40B4-BE49-F238E27FC236}">
                <a16:creationId xmlns:a16="http://schemas.microsoft.com/office/drawing/2014/main" id="{89026CF1-7308-1E1C-5FB7-B675F79A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518" y="5976575"/>
            <a:ext cx="35509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ctr" eaLnBrk="1" hangingPunct="1">
              <a:defRPr/>
            </a:pPr>
            <a:r>
              <a:rPr lang="en-US" sz="2000" b="1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Vorticity Contour (</a:t>
            </a:r>
            <a:r>
              <a:rPr lang="en-US" altLang="ko-KR" sz="2000" b="1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LF #4 )</a:t>
            </a:r>
            <a:endParaRPr lang="en-US" sz="2000" b="1" kern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Multi-Fidelity Design of 3D Turbo Centrifugal Fan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Low-fidelity Optimization Fan Geometry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07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151566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C39B-4B2C-B00C-E86C-A853D8E9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0149B176-4A0A-567A-F816-09FFC9FC8628}"/>
              </a:ext>
            </a:extLst>
          </p:cNvPr>
          <p:cNvSpPr txBox="1"/>
          <p:nvPr/>
        </p:nvSpPr>
        <p:spPr>
          <a:xfrm>
            <a:off x="856224" y="1399954"/>
            <a:ext cx="3716686" cy="249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978A88-6502-2E94-21F8-960305D1D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0668" y="1337342"/>
            <a:ext cx="7610664" cy="5520658"/>
          </a:xfrm>
          <a:prstGeom prst="rect">
            <a:avLst/>
          </a:prstGeom>
        </p:spPr>
      </p:pic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1 – Design Goal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08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2128555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FBFF7-9CFD-AFFC-2CE7-27AFB9D7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7C22DA28-03BC-94F0-3C85-E6528B108A9C}"/>
              </a:ext>
            </a:extLst>
          </p:cNvPr>
          <p:cNvSpPr txBox="1"/>
          <p:nvPr/>
        </p:nvSpPr>
        <p:spPr>
          <a:xfrm>
            <a:off x="856224" y="1399954"/>
            <a:ext cx="3716686" cy="249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4FF2CB-3175-EA79-7909-85FD06B57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4237" y="1291361"/>
            <a:ext cx="9663525" cy="5194142"/>
          </a:xfrm>
          <a:prstGeom prst="rect">
            <a:avLst/>
          </a:prstGeom>
        </p:spPr>
      </p:pic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2 – Airfoil Design Parameter Input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09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1119906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B522-FA64-9A00-0CF9-C53A8F6F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C01BE27-7224-391F-3F7E-6D4104B66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788" y="1364394"/>
            <a:ext cx="1090671" cy="354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7FD07E4-496B-5F09-2167-30411ABB8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9919" y="1764100"/>
            <a:ext cx="1834409" cy="20414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9B3214-1CD0-3D56-3CE4-C1CDC17C5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250" y="1399351"/>
            <a:ext cx="1073806" cy="3598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879B78-8EA8-7345-57B1-A4B99C2965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0587" y="1780240"/>
            <a:ext cx="1823132" cy="20288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67B6E6C-5E5A-EA3F-CE03-8CD491B5F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16" y="1399871"/>
            <a:ext cx="1062563" cy="3654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EC68039-08A2-EABC-0949-85DFFB924D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49978" y="1762566"/>
            <a:ext cx="1819439" cy="2024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BAB6D6-5FF0-AC68-4592-DB4763B005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4140" y="3974737"/>
            <a:ext cx="1062563" cy="35232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276A0BF-08ED-BC5A-DD5F-BD4CA5E8FE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5703" y="4403834"/>
            <a:ext cx="1819437" cy="202475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2E8BE980-119A-4127-5DA8-7355E24C17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6088" y="3966415"/>
            <a:ext cx="1013519" cy="35418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15750DB-EB68-9D13-F1F4-690DEEA0E6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5643" y="4387172"/>
            <a:ext cx="1834409" cy="204141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CEBE34E0-5DED-FC2D-0B61-BE49D6C153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0975" y="3963604"/>
            <a:ext cx="1073806" cy="35418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7765FC5-23F7-3D15-EDBA-7683421C9E9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6312" y="4399721"/>
            <a:ext cx="1823132" cy="2028867"/>
          </a:xfrm>
          <a:prstGeom prst="rect">
            <a:avLst/>
          </a:prstGeom>
        </p:spPr>
      </p:pic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2 – Blade Bezier Curve Design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10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4027589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2B949-7F66-4506-30CF-BE0D2C03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6FC6C9B-5DF0-9CF2-9E07-C1CBD0463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342" y="1323104"/>
            <a:ext cx="1466897" cy="2900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1B9E236-6A77-2581-601A-CE1D6BED45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49"/>
          <a:stretch>
            <a:fillRect/>
          </a:stretch>
        </p:blipFill>
        <p:spPr>
          <a:xfrm>
            <a:off x="5030094" y="1544805"/>
            <a:ext cx="2717393" cy="195586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33869D6-44E6-B6B8-4DF0-308AEE170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245" y="1535898"/>
            <a:ext cx="2701743" cy="19641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825752-832F-D58F-3EF9-52076E2E94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57668" y="1314197"/>
            <a:ext cx="1466897" cy="26520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6D82473-A509-DA28-0054-791837706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5191" y="1304092"/>
            <a:ext cx="1466897" cy="25837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C603677-576E-0913-EA98-EBEE81693A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" r="563" b="3196"/>
          <a:stretch>
            <a:fillRect/>
          </a:stretch>
        </p:blipFill>
        <p:spPr>
          <a:xfrm>
            <a:off x="1919943" y="1606700"/>
            <a:ext cx="2717393" cy="189334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4A458E5-7079-F706-3F7F-5FA52A3FE30F}"/>
              </a:ext>
            </a:extLst>
          </p:cNvPr>
          <p:cNvSpPr txBox="1"/>
          <p:nvPr/>
        </p:nvSpPr>
        <p:spPr>
          <a:xfrm>
            <a:off x="1372825" y="3089340"/>
            <a:ext cx="7014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Backplate</a:t>
            </a:r>
            <a:endParaRPr lang="ko-KR" alt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A15289-D60F-E7A4-0BFB-FD749EDBF574}"/>
              </a:ext>
            </a:extLst>
          </p:cNvPr>
          <p:cNvSpPr txBox="1"/>
          <p:nvPr/>
        </p:nvSpPr>
        <p:spPr>
          <a:xfrm>
            <a:off x="1432978" y="1739411"/>
            <a:ext cx="6312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Shroud</a:t>
            </a:r>
            <a:endParaRPr lang="ko-KR" altLang="en-US" sz="9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B72C269-38F4-93F8-3D1B-93EC30BAD7AA}"/>
              </a:ext>
            </a:extLst>
          </p:cNvPr>
          <p:cNvGrpSpPr/>
          <p:nvPr/>
        </p:nvGrpSpPr>
        <p:grpSpPr>
          <a:xfrm>
            <a:off x="4824063" y="3830348"/>
            <a:ext cx="6102035" cy="2810685"/>
            <a:chOff x="3304514" y="3721750"/>
            <a:chExt cx="6102035" cy="2810685"/>
          </a:xfrm>
        </p:grpSpPr>
        <p:graphicFrame>
          <p:nvGraphicFramePr>
            <p:cNvPr id="31" name="차트 30">
              <a:extLst>
                <a:ext uri="{FF2B5EF4-FFF2-40B4-BE49-F238E27FC236}">
                  <a16:creationId xmlns:a16="http://schemas.microsoft.com/office/drawing/2014/main" id="{5B37ADF3-1E76-4DB7-334A-D03AE6D608E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04514" y="3721750"/>
            <a:ext cx="6102035" cy="258960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CD5809-CCFD-D1F8-F9E4-82E3D37F3049}"/>
                </a:ext>
              </a:extLst>
            </p:cNvPr>
            <p:cNvSpPr txBox="1"/>
            <p:nvPr/>
          </p:nvSpPr>
          <p:spPr>
            <a:xfrm>
              <a:off x="4195390" y="6301603"/>
              <a:ext cx="70147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Backplate</a:t>
              </a:r>
              <a:endParaRPr lang="ko-KR" altLang="en-US" sz="9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C708D3E-109E-9F49-CF1A-44F3EA3D4BED}"/>
                </a:ext>
              </a:extLst>
            </p:cNvPr>
            <p:cNvSpPr txBox="1"/>
            <p:nvPr/>
          </p:nvSpPr>
          <p:spPr>
            <a:xfrm>
              <a:off x="8498865" y="6293637"/>
              <a:ext cx="63127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Shroud</a:t>
              </a:r>
              <a:endParaRPr lang="ko-KR" altLang="en-US" sz="900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FD5F69A-3F50-5C77-852D-F8EA33854967}"/>
              </a:ext>
            </a:extLst>
          </p:cNvPr>
          <p:cNvSpPr txBox="1"/>
          <p:nvPr/>
        </p:nvSpPr>
        <p:spPr>
          <a:xfrm>
            <a:off x="1390511" y="4628745"/>
            <a:ext cx="3639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Pressure Factor </a:t>
            </a:r>
            <a:r>
              <a:rPr lang="ko-KR" alt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값에 </a:t>
            </a:r>
            <a:endParaRPr lang="en-US" altLang="ko-KR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ko-KR" alt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따른 날개 출구 각 계산 예</a:t>
            </a: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2 – Total Pressure Distribution Input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11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119188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38EE-211D-2D38-7CF5-0039ACFF9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61289F-1E91-D75A-C7D3-40856455A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072" y="1769543"/>
            <a:ext cx="5702995" cy="41699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B50BAE1-F2B5-E814-D1BB-275E4803F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7933" y="1769543"/>
            <a:ext cx="5702995" cy="41699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8FFA2A-A07B-F48C-B863-166DDE194A1B}"/>
              </a:ext>
            </a:extLst>
          </p:cNvPr>
          <p:cNvSpPr txBox="1"/>
          <p:nvPr/>
        </p:nvSpPr>
        <p:spPr>
          <a:xfrm>
            <a:off x="1345537" y="5948065"/>
            <a:ext cx="325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&lt; XY View of Aligned Airfoils &gt;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D70692-3057-7D40-CF8D-766F5F9A72AA}"/>
              </a:ext>
            </a:extLst>
          </p:cNvPr>
          <p:cNvSpPr txBox="1"/>
          <p:nvPr/>
        </p:nvSpPr>
        <p:spPr>
          <a:xfrm>
            <a:off x="7592401" y="6024265"/>
            <a:ext cx="325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&lt; YZ View of Aligned Airfoils &gt;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3 – Airfoil Parameter Input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12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211059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A0916-DC0C-1028-751F-7004B937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6DB77BF-A6AF-F1CD-90FD-F72CFD31A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13" y="1846170"/>
            <a:ext cx="5579514" cy="40472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FE05E76-781B-8D68-CF86-4EFABB7E9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6132" y="1846170"/>
            <a:ext cx="5579514" cy="4047293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80530BF-DB21-41DC-B01F-972969A3E934}"/>
              </a:ext>
            </a:extLst>
          </p:cNvPr>
          <p:cNvCxnSpPr>
            <a:cxnSpLocks/>
          </p:cNvCxnSpPr>
          <p:nvPr/>
        </p:nvCxnSpPr>
        <p:spPr>
          <a:xfrm>
            <a:off x="5573495" y="3719895"/>
            <a:ext cx="827305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F8ED43-234A-12A5-5355-AED2D13F1A55}"/>
              </a:ext>
            </a:extLst>
          </p:cNvPr>
          <p:cNvSpPr txBox="1"/>
          <p:nvPr/>
        </p:nvSpPr>
        <p:spPr>
          <a:xfrm>
            <a:off x="7684851" y="5932676"/>
            <a:ext cx="3216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3D Design Example &gt;</a:t>
            </a:r>
            <a:endParaRPr lang="ko-KR" alt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816D2-217B-7CC1-DE68-DF12F20A2C49}"/>
              </a:ext>
            </a:extLst>
          </p:cNvPr>
          <p:cNvSpPr txBox="1"/>
          <p:nvPr/>
        </p:nvSpPr>
        <p:spPr>
          <a:xfrm>
            <a:off x="5281749" y="3937372"/>
            <a:ext cx="155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Sweep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적용</a:t>
            </a: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4 – 3D Review and Control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13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2264784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6F8C1-4474-CA8F-59D4-94E5379B0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FA72C1A-C92F-6599-5614-8343CD1CE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860" y="3546311"/>
            <a:ext cx="3899659" cy="282683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2243E12-DDDA-FDBA-DC30-162D80EA5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6642" y="2159551"/>
            <a:ext cx="6350008" cy="34131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69D60B-3FF2-5B44-C379-E141056B8A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6354"/>
          <a:stretch>
            <a:fillRect/>
          </a:stretch>
        </p:blipFill>
        <p:spPr>
          <a:xfrm>
            <a:off x="344798" y="1808613"/>
            <a:ext cx="4859784" cy="1116019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1768D1F-2FFC-8972-59A2-E525E8C8C346}"/>
              </a:ext>
            </a:extLst>
          </p:cNvPr>
          <p:cNvCxnSpPr>
            <a:cxnSpLocks/>
          </p:cNvCxnSpPr>
          <p:nvPr/>
        </p:nvCxnSpPr>
        <p:spPr>
          <a:xfrm flipV="1">
            <a:off x="4266458" y="4362450"/>
            <a:ext cx="1286617" cy="368826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FDF906-822C-26EA-6387-EB1D2590DCCB}"/>
              </a:ext>
            </a:extLst>
          </p:cNvPr>
          <p:cNvSpPr/>
          <p:nvPr/>
        </p:nvSpPr>
        <p:spPr>
          <a:xfrm>
            <a:off x="1695450" y="2679700"/>
            <a:ext cx="1238250" cy="1587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D6494E1-4D72-8CBD-5A32-73418599FF0D}"/>
              </a:ext>
            </a:extLst>
          </p:cNvPr>
          <p:cNvCxnSpPr>
            <a:cxnSpLocks/>
          </p:cNvCxnSpPr>
          <p:nvPr/>
        </p:nvCxnSpPr>
        <p:spPr>
          <a:xfrm>
            <a:off x="3063089" y="2759075"/>
            <a:ext cx="2409835" cy="43180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5 – 3D Modeling (e.g. SolidWorks)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14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3432719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4C347-0C39-8884-5622-9600C859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24AB045B-3873-13A5-5ADA-A0F37402B608}"/>
              </a:ext>
            </a:extLst>
          </p:cNvPr>
          <p:cNvGrpSpPr/>
          <p:nvPr/>
        </p:nvGrpSpPr>
        <p:grpSpPr>
          <a:xfrm>
            <a:off x="110908" y="2972565"/>
            <a:ext cx="4859784" cy="1356215"/>
            <a:chOff x="344798" y="1690255"/>
            <a:chExt cx="4859784" cy="135621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324AC94-7CA0-0D7F-03B4-1C93F2B29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46" b="-506"/>
            <a:stretch>
              <a:fillRect/>
            </a:stretch>
          </p:blipFill>
          <p:spPr>
            <a:xfrm>
              <a:off x="344798" y="1690255"/>
              <a:ext cx="4859784" cy="1356215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45BBE75-1F49-9A3B-F0F2-6C1B32B3F945}"/>
                </a:ext>
              </a:extLst>
            </p:cNvPr>
            <p:cNvSpPr/>
            <p:nvPr/>
          </p:nvSpPr>
          <p:spPr>
            <a:xfrm>
              <a:off x="1702980" y="2816225"/>
              <a:ext cx="1116391" cy="1024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EE722BA-CBA1-53E6-2535-54447567FBBE}"/>
              </a:ext>
            </a:extLst>
          </p:cNvPr>
          <p:cNvCxnSpPr>
            <a:cxnSpLocks/>
          </p:cNvCxnSpPr>
          <p:nvPr/>
        </p:nvCxnSpPr>
        <p:spPr>
          <a:xfrm>
            <a:off x="2755372" y="4149768"/>
            <a:ext cx="2513744" cy="14602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" name="그림 1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6829EA-0FDD-43E1-817B-6C80CCA5F6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27"/>
          <a:stretch>
            <a:fillRect/>
          </a:stretch>
        </p:blipFill>
        <p:spPr>
          <a:xfrm>
            <a:off x="5393581" y="1939054"/>
            <a:ext cx="6687511" cy="3486335"/>
          </a:xfrm>
          <a:prstGeom prst="rect">
            <a:avLst/>
          </a:prstGeom>
        </p:spPr>
      </p:pic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5 – 3D Modeling (e.g. NX)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15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903366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5DEB-47D7-5003-0615-8F4E23AD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28744D-ED86-3398-B6F8-55FB3CFCF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909" y="1799829"/>
            <a:ext cx="5813662" cy="425085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11EB49-0886-D2C6-2FCC-E7F899357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00335" y="2196496"/>
            <a:ext cx="3628373" cy="3413131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28C0528-22FA-7EAE-583E-00D2BF3B5E34}"/>
              </a:ext>
            </a:extLst>
          </p:cNvPr>
          <p:cNvCxnSpPr>
            <a:cxnSpLocks/>
          </p:cNvCxnSpPr>
          <p:nvPr/>
        </p:nvCxnSpPr>
        <p:spPr>
          <a:xfrm flipV="1">
            <a:off x="5892800" y="3925254"/>
            <a:ext cx="1087462" cy="22192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iDesignFan Turbo Centrifugal Module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Step 5 – TurboGrid, CFX Domain Export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16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2273557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D31E-3839-ECAB-E9CD-323863CA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211DA803-55A9-A239-FAB8-49AE4C076A12}"/>
              </a:ext>
            </a:extLst>
          </p:cNvPr>
          <p:cNvSpPr txBox="1"/>
          <p:nvPr/>
        </p:nvSpPr>
        <p:spPr>
          <a:xfrm>
            <a:off x="856224" y="1399954"/>
            <a:ext cx="3716686" cy="2490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6A794F9-8B74-7F45-2667-A1E95FE14475}"/>
              </a:ext>
            </a:extLst>
          </p:cNvPr>
          <p:cNvGraphicFramePr>
            <a:graphicFrameLocks noGrp="1"/>
          </p:cNvGraphicFramePr>
          <p:nvPr/>
        </p:nvGraphicFramePr>
        <p:xfrm>
          <a:off x="561976" y="1399957"/>
          <a:ext cx="11268074" cy="4732774"/>
        </p:xfrm>
        <a:graphic>
          <a:graphicData uri="http://schemas.openxmlformats.org/drawingml/2006/table">
            <a:tbl>
              <a:tblPr/>
              <a:tblGrid>
                <a:gridCol w="1060606">
                  <a:extLst>
                    <a:ext uri="{9D8B030D-6E8A-4147-A177-3AD203B41FA5}">
                      <a16:colId xmlns:a16="http://schemas.microsoft.com/office/drawing/2014/main" val="3886779657"/>
                    </a:ext>
                  </a:extLst>
                </a:gridCol>
                <a:gridCol w="1681388">
                  <a:extLst>
                    <a:ext uri="{9D8B030D-6E8A-4147-A177-3AD203B41FA5}">
                      <a16:colId xmlns:a16="http://schemas.microsoft.com/office/drawing/2014/main" val="2687989193"/>
                    </a:ext>
                  </a:extLst>
                </a:gridCol>
                <a:gridCol w="790351">
                  <a:extLst>
                    <a:ext uri="{9D8B030D-6E8A-4147-A177-3AD203B41FA5}">
                      <a16:colId xmlns:a16="http://schemas.microsoft.com/office/drawing/2014/main" val="2822420155"/>
                    </a:ext>
                  </a:extLst>
                </a:gridCol>
                <a:gridCol w="1148034">
                  <a:extLst>
                    <a:ext uri="{9D8B030D-6E8A-4147-A177-3AD203B41FA5}">
                      <a16:colId xmlns:a16="http://schemas.microsoft.com/office/drawing/2014/main" val="2419251695"/>
                    </a:ext>
                  </a:extLst>
                </a:gridCol>
                <a:gridCol w="1189273">
                  <a:extLst>
                    <a:ext uri="{9D8B030D-6E8A-4147-A177-3AD203B41FA5}">
                      <a16:colId xmlns:a16="http://schemas.microsoft.com/office/drawing/2014/main" val="2556537360"/>
                    </a:ext>
                  </a:extLst>
                </a:gridCol>
                <a:gridCol w="1113959">
                  <a:extLst>
                    <a:ext uri="{9D8B030D-6E8A-4147-A177-3AD203B41FA5}">
                      <a16:colId xmlns:a16="http://schemas.microsoft.com/office/drawing/2014/main" val="785432290"/>
                    </a:ext>
                  </a:extLst>
                </a:gridCol>
                <a:gridCol w="1071116">
                  <a:extLst>
                    <a:ext uri="{9D8B030D-6E8A-4147-A177-3AD203B41FA5}">
                      <a16:colId xmlns:a16="http://schemas.microsoft.com/office/drawing/2014/main" val="2095876981"/>
                    </a:ext>
                  </a:extLst>
                </a:gridCol>
                <a:gridCol w="1328184">
                  <a:extLst>
                    <a:ext uri="{9D8B030D-6E8A-4147-A177-3AD203B41FA5}">
                      <a16:colId xmlns:a16="http://schemas.microsoft.com/office/drawing/2014/main" val="1070051677"/>
                    </a:ext>
                  </a:extLst>
                </a:gridCol>
                <a:gridCol w="899736">
                  <a:extLst>
                    <a:ext uri="{9D8B030D-6E8A-4147-A177-3AD203B41FA5}">
                      <a16:colId xmlns:a16="http://schemas.microsoft.com/office/drawing/2014/main" val="419130794"/>
                    </a:ext>
                  </a:extLst>
                </a:gridCol>
                <a:gridCol w="985427">
                  <a:extLst>
                    <a:ext uri="{9D8B030D-6E8A-4147-A177-3AD203B41FA5}">
                      <a16:colId xmlns:a16="http://schemas.microsoft.com/office/drawing/2014/main" val="3602181945"/>
                    </a:ext>
                  </a:extLst>
                </a:gridCol>
              </a:tblGrid>
              <a:tr h="649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Model #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Fan Config.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Blade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L.E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Curvature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Coeff.</a:t>
                      </a:r>
                    </a:p>
                  </a:txBody>
                  <a:tcPr marL="8538" marR="8538" marT="82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Camber Angle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[°]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538" marR="8538" marT="82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Hub_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Sweep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[°]</a:t>
                      </a:r>
                      <a:endParaRPr lang="el-G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538" marR="8538" marT="82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Mid_Sweep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[°]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538" marR="8538" marT="82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Shroud_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Sweep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[°]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538" marR="8538" marT="82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η_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Fan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Γ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(m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555423"/>
                  </a:ext>
                </a:extLst>
              </a:tr>
              <a:tr h="10051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LF #4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-13.64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-1.94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-1.35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69.99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122.16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88719"/>
                  </a:ext>
                </a:extLst>
              </a:tr>
              <a:tr h="10675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M.L #1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-0.86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-4.99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6.11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12.72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70.04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106.13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691226"/>
                  </a:ext>
                </a:extLst>
              </a:tr>
              <a:tr h="10051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M.L #2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-0.087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-3.14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6.02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12.60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70.23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97.52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865692"/>
                  </a:ext>
                </a:extLst>
              </a:tr>
              <a:tr h="10051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M.L #3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-13.37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1.09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3.36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71.04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97.35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86383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5A4897AF-251F-29FC-A220-3C28A8961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451" y="3217014"/>
            <a:ext cx="1368929" cy="7091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62A7DC-08EA-2D5F-3718-7CE9B7997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157" y="4260103"/>
            <a:ext cx="1315513" cy="6814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5ED26BB-025B-AA6A-0681-056A3ADFD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157" y="5260662"/>
            <a:ext cx="1315513" cy="68146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3AC97E0-9A1B-B1BC-7F40-9BC2C59B8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425" y="2202757"/>
            <a:ext cx="1341955" cy="695161"/>
          </a:xfrm>
          <a:prstGeom prst="rect">
            <a:avLst/>
          </a:prstGeom>
        </p:spPr>
      </p:pic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High-fidelity Optimization Fan Geometry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High-fidelity Simulation Model Examples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17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4196819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E567-A8CA-401F-3A70-5440AB6C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B33C1AD-21D9-947C-8012-D6E5CF278484}"/>
              </a:ext>
            </a:extLst>
          </p:cNvPr>
          <p:cNvSpPr txBox="1"/>
          <p:nvPr/>
        </p:nvSpPr>
        <p:spPr>
          <a:xfrm>
            <a:off x="5131066" y="4587956"/>
            <a:ext cx="4921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Q-criterion (value : 200,000 [s</a:t>
            </a:r>
            <a:r>
              <a:rPr lang="en-US" altLang="ko-KR" sz="2000" b="1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r>
              <a:rPr lang="en-US" altLang="ko-KR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])</a:t>
            </a:r>
            <a:endParaRPr lang="ko-KR" alt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3A3C75-5728-F7F1-BB77-93DAF1550087}"/>
              </a:ext>
            </a:extLst>
          </p:cNvPr>
          <p:cNvSpPr txBox="1"/>
          <p:nvPr/>
        </p:nvSpPr>
        <p:spPr>
          <a:xfrm>
            <a:off x="3798636" y="2278799"/>
            <a:ext cx="7912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Outlet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F7BB9E5-6C72-49B0-BE19-4D2A74732273}"/>
              </a:ext>
            </a:extLst>
          </p:cNvPr>
          <p:cNvGrpSpPr/>
          <p:nvPr/>
        </p:nvGrpSpPr>
        <p:grpSpPr>
          <a:xfrm>
            <a:off x="7519628" y="980463"/>
            <a:ext cx="3022702" cy="3653923"/>
            <a:chOff x="7519628" y="980463"/>
            <a:chExt cx="3022702" cy="3653923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9F3A569B-C8E8-F02A-CA06-20DA9D69D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06" t="3486" r="11989" b="4199"/>
            <a:stretch>
              <a:fillRect/>
            </a:stretch>
          </p:blipFill>
          <p:spPr>
            <a:xfrm rot="16200000">
              <a:off x="7320666" y="2139720"/>
              <a:ext cx="2693628" cy="2295703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1CFC0E2C-33FB-FB3C-2FAD-69749E82F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674" r="92072" b="40097"/>
            <a:stretch>
              <a:fillRect/>
            </a:stretch>
          </p:blipFill>
          <p:spPr>
            <a:xfrm>
              <a:off x="10066876" y="1924532"/>
              <a:ext cx="475454" cy="2327275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447C93E-3273-2985-27BE-FFE6074915B8}"/>
                </a:ext>
              </a:extLst>
            </p:cNvPr>
            <p:cNvSpPr txBox="1"/>
            <p:nvPr/>
          </p:nvSpPr>
          <p:spPr>
            <a:xfrm>
              <a:off x="8091960" y="980463"/>
              <a:ext cx="23622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Total Pressure</a:t>
              </a:r>
            </a:p>
            <a:p>
              <a:pPr algn="ctr"/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Distribution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816B2D-4511-775A-94BF-15988B513858}"/>
                </a:ext>
              </a:extLst>
            </p:cNvPr>
            <p:cNvSpPr txBox="1"/>
            <p:nvPr/>
          </p:nvSpPr>
          <p:spPr>
            <a:xfrm>
              <a:off x="8181837" y="2650175"/>
              <a:ext cx="515528" cy="321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TE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96DA5EE-1D31-4F05-451A-4F078F59D2D7}"/>
                </a:ext>
              </a:extLst>
            </p:cNvPr>
            <p:cNvSpPr txBox="1"/>
            <p:nvPr/>
          </p:nvSpPr>
          <p:spPr>
            <a:xfrm>
              <a:off x="8692104" y="2577947"/>
              <a:ext cx="571500" cy="321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rPr>
                <a:t>LE</a:t>
              </a:r>
              <a:endParaRPr lang="ko-KR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화살표: 오른쪽 41">
              <a:extLst>
                <a:ext uri="{FF2B5EF4-FFF2-40B4-BE49-F238E27FC236}">
                  <a16:creationId xmlns:a16="http://schemas.microsoft.com/office/drawing/2014/main" id="{FF387225-6110-E688-0AA0-AAD977D6E243}"/>
                </a:ext>
              </a:extLst>
            </p:cNvPr>
            <p:cNvSpPr/>
            <p:nvPr/>
          </p:nvSpPr>
          <p:spPr>
            <a:xfrm rot="4272805">
              <a:off x="8336980" y="3171399"/>
              <a:ext cx="426064" cy="103221"/>
            </a:xfrm>
            <a:prstGeom prst="rightArrow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54B15635-F5F2-6C60-B8D8-86E7B6F32C05}"/>
                </a:ext>
              </a:extLst>
            </p:cNvPr>
            <p:cNvSpPr/>
            <p:nvPr/>
          </p:nvSpPr>
          <p:spPr>
            <a:xfrm rot="4248193">
              <a:off x="8850722" y="3074167"/>
              <a:ext cx="350914" cy="101444"/>
            </a:xfrm>
            <a:prstGeom prst="rightArrow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D0661301-E735-97CA-50BA-083716F8D6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" r="3152"/>
          <a:stretch/>
        </p:blipFill>
        <p:spPr>
          <a:xfrm>
            <a:off x="4254402" y="4977165"/>
            <a:ext cx="3493681" cy="150287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46AB26D-6D8C-D9C5-3951-4D7CE462AD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r="1741"/>
          <a:stretch/>
        </p:blipFill>
        <p:spPr>
          <a:xfrm>
            <a:off x="8019387" y="4961225"/>
            <a:ext cx="3493681" cy="149721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9E6C4D79-53D0-C6CB-1681-637721BED29B}"/>
              </a:ext>
            </a:extLst>
          </p:cNvPr>
          <p:cNvSpPr txBox="1"/>
          <p:nvPr/>
        </p:nvSpPr>
        <p:spPr>
          <a:xfrm>
            <a:off x="5209001" y="5980603"/>
            <a:ext cx="1862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M.L #2&gt;</a:t>
            </a:r>
            <a:endParaRPr lang="ko-KR" altLang="en-US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E587A6-9EE6-10A5-B703-4D726FF332F5}"/>
              </a:ext>
            </a:extLst>
          </p:cNvPr>
          <p:cNvSpPr txBox="1"/>
          <p:nvPr/>
        </p:nvSpPr>
        <p:spPr>
          <a:xfrm>
            <a:off x="8204175" y="5804765"/>
            <a:ext cx="3308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LHS #10, </a:t>
            </a:r>
            <a:r>
              <a:rPr lang="el-GR" altLang="ko-K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η</a:t>
            </a:r>
            <a:r>
              <a:rPr lang="en-US" altLang="ko-K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64.62 %,</a:t>
            </a:r>
            <a:r>
              <a:rPr lang="el-GR" altLang="ko-K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l-GR" altLang="ko-K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US" altLang="ko-K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123.56 m</a:t>
            </a:r>
            <a:r>
              <a:rPr lang="en-US" altLang="ko-KR" sz="20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 &gt;</a:t>
            </a:r>
            <a:endParaRPr lang="ko-KR" altLang="en-US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BF4E5B-08A2-2295-918E-644D3139C886}"/>
              </a:ext>
            </a:extLst>
          </p:cNvPr>
          <p:cNvGrpSpPr/>
          <p:nvPr/>
        </p:nvGrpSpPr>
        <p:grpSpPr>
          <a:xfrm>
            <a:off x="4559566" y="1551230"/>
            <a:ext cx="1941828" cy="3015966"/>
            <a:chOff x="4559566" y="1551230"/>
            <a:chExt cx="1941828" cy="301596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B1FE485-7493-9569-DF46-793C0BC8E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123" b="16123"/>
            <a:stretch/>
          </p:blipFill>
          <p:spPr>
            <a:xfrm>
              <a:off x="4718475" y="3358947"/>
              <a:ext cx="1705329" cy="1208249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000EB7C-58CF-6C6B-4120-549E1AAEC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42" t="-276" r="19356" b="14431"/>
            <a:stretch>
              <a:fillRect/>
            </a:stretch>
          </p:blipFill>
          <p:spPr>
            <a:xfrm>
              <a:off x="4597820" y="1615179"/>
              <a:ext cx="1903574" cy="1648502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853ACCA-A4B3-3445-6EBF-D702818D91C8}"/>
                </a:ext>
              </a:extLst>
            </p:cNvPr>
            <p:cNvSpPr/>
            <p:nvPr/>
          </p:nvSpPr>
          <p:spPr>
            <a:xfrm>
              <a:off x="4652155" y="2978773"/>
              <a:ext cx="419100" cy="22777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5A7F6E1-4830-79E4-9B48-BE46E08CAEC8}"/>
                </a:ext>
              </a:extLst>
            </p:cNvPr>
            <p:cNvSpPr txBox="1"/>
            <p:nvPr/>
          </p:nvSpPr>
          <p:spPr>
            <a:xfrm>
              <a:off x="4559566" y="1790015"/>
              <a:ext cx="571500" cy="291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</a:t>
              </a:r>
              <a:endParaRPr lang="ko-KR" alt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696D4D8-6EB6-A991-896A-DDF64EB7F184}"/>
                </a:ext>
              </a:extLst>
            </p:cNvPr>
            <p:cNvSpPr txBox="1"/>
            <p:nvPr/>
          </p:nvSpPr>
          <p:spPr>
            <a:xfrm>
              <a:off x="5468387" y="1551230"/>
              <a:ext cx="5328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</a:t>
              </a:r>
              <a:endParaRPr lang="ko-KR" alt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09421BF-54DE-4B75-4DFB-6F0B96A3D1ED}"/>
              </a:ext>
            </a:extLst>
          </p:cNvPr>
          <p:cNvGrpSpPr/>
          <p:nvPr/>
        </p:nvGrpSpPr>
        <p:grpSpPr>
          <a:xfrm>
            <a:off x="824334" y="1455094"/>
            <a:ext cx="3189803" cy="3364719"/>
            <a:chOff x="824334" y="1455094"/>
            <a:chExt cx="3189803" cy="336471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C8454B2-E456-8ACD-10ED-FE253F967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3" r="2393"/>
            <a:stretch/>
          </p:blipFill>
          <p:spPr>
            <a:xfrm>
              <a:off x="1028761" y="1793648"/>
              <a:ext cx="2985376" cy="2479574"/>
            </a:xfrm>
            <a:prstGeom prst="rect">
              <a:avLst/>
            </a:prstGeom>
          </p:spPr>
        </p:pic>
        <p:sp>
          <p:nvSpPr>
            <p:cNvPr id="23" name="화살표: 오른쪽 22">
              <a:extLst>
                <a:ext uri="{FF2B5EF4-FFF2-40B4-BE49-F238E27FC236}">
                  <a16:creationId xmlns:a16="http://schemas.microsoft.com/office/drawing/2014/main" id="{0F2B48A4-23F7-B233-B40C-2A5F2085ADE8}"/>
                </a:ext>
              </a:extLst>
            </p:cNvPr>
            <p:cNvSpPr/>
            <p:nvPr/>
          </p:nvSpPr>
          <p:spPr>
            <a:xfrm rot="4381156">
              <a:off x="1100585" y="1830726"/>
              <a:ext cx="446477" cy="236594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03DF257F-7FF9-2E4D-0CFD-FBFF3DAAAA36}"/>
                </a:ext>
              </a:extLst>
            </p:cNvPr>
            <p:cNvSpPr/>
            <p:nvPr/>
          </p:nvSpPr>
          <p:spPr>
            <a:xfrm rot="19500643">
              <a:off x="3660380" y="2615748"/>
              <a:ext cx="338155" cy="236594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78022983-05DE-DF92-2D4D-2379D835D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 rot="582918">
              <a:off x="1139390" y="1963803"/>
              <a:ext cx="1224483" cy="141520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6F1411-22CD-0990-7907-14C7DA6DB45B}"/>
                </a:ext>
              </a:extLst>
            </p:cNvPr>
            <p:cNvSpPr txBox="1"/>
            <p:nvPr/>
          </p:nvSpPr>
          <p:spPr>
            <a:xfrm>
              <a:off x="824334" y="1455094"/>
              <a:ext cx="6278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Inlet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8503957-4D42-E652-56AC-612D05CBAE71}"/>
                </a:ext>
              </a:extLst>
            </p:cNvPr>
            <p:cNvSpPr txBox="1"/>
            <p:nvPr/>
          </p:nvSpPr>
          <p:spPr>
            <a:xfrm>
              <a:off x="1378549" y="4481259"/>
              <a:ext cx="2518808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10,000,000 cells, y</a:t>
              </a:r>
              <a:r>
                <a:rPr lang="en-US" altLang="ko-KR" sz="16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ko-KR" altLang="ko-KR" sz="1600" dirty="0"/>
                <a:t>≈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1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EFB5E621-5B49-6473-D0A0-46AE95021403}"/>
              </a:ext>
            </a:extLst>
          </p:cNvPr>
          <p:cNvSpPr txBox="1"/>
          <p:nvPr/>
        </p:nvSpPr>
        <p:spPr>
          <a:xfrm>
            <a:off x="516482" y="5454562"/>
            <a:ext cx="310662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Turbulent Model </a:t>
            </a:r>
          </a:p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Stress-Blended Eddy Simulation (SBES)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High-fidelity CFD (ANSYS CFX)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3D CFD Meshing and Result Example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18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1909021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E567-A8CA-401F-3A70-5440AB6C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5">
            <a:extLst>
              <a:ext uri="{FF2B5EF4-FFF2-40B4-BE49-F238E27FC236}">
                <a16:creationId xmlns:a16="http://schemas.microsoft.com/office/drawing/2014/main" id="{AB217A9A-C857-89EE-674D-2C05D485C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979150"/>
            <a:ext cx="120142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lvl="0" indent="-571500" defTabSz="9144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Verification Result of M.F. Design Using </a:t>
            </a:r>
            <a:r>
              <a:rPr lang="en-US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iDesignFan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</a:p>
          <a:p>
            <a:pPr lvl="0" defTabSz="914400" eaLnBrk="1" hangingPunct="1">
              <a:defRPr/>
            </a:pPr>
            <a:r>
              <a:rPr lang="en-US" altLang="ko-KR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pPr lvl="0" defTabSz="914400" eaLnBrk="1" hangingPunct="1">
              <a:defRPr/>
            </a:pP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D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esign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(M.L #3)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η</a:t>
            </a:r>
            <a:r>
              <a:rPr lang="en-US" altLang="ko-KR" sz="2000" b="0" baseline="-25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71.04%, +1.05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Manufactured Model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66.5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%), 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1" hangingPunct="1">
              <a:defRPr/>
            </a:pP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20%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ower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irculation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Strength 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122.16 → 97.35 m²/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compared with Low-fidelity Outcome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05">
            <a:extLst>
              <a:ext uri="{FF2B5EF4-FFF2-40B4-BE49-F238E27FC236}">
                <a16:creationId xmlns:a16="http://schemas.microsoft.com/office/drawing/2014/main" id="{E80A956B-C114-F41B-3D7B-7621D34EF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2711618"/>
            <a:ext cx="120142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lvl="0" indent="-571500" defTabSz="914400" eaLnBrk="1" hangingPunct="1">
              <a:buFont typeface="Wingdings" panose="05000000000000000000" pitchFamily="2" charset="2"/>
              <a:buChar char="§"/>
              <a:defRPr/>
            </a:pP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ain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Reduced Noise with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educed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irculation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lvl="0" defTabSz="914400" eaLnBrk="1" hangingPunct="1">
              <a:defRPr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  <a:p>
            <a:pPr lvl="0" defTabSz="914400" eaLnBrk="1" hangingPunct="1">
              <a:defRPr/>
            </a:pP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Same Loading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Vortex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Criterion,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xcess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Vortex  </a:t>
            </a:r>
          </a:p>
          <a:p>
            <a:pPr lvl="0" defTabSz="914400" eaLnBrk="1" hangingPunct="1">
              <a:defRPr/>
            </a:pP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irculation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Resulting in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oss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ackward-swept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mpellers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05">
            <a:extLst>
              <a:ext uri="{FF2B5EF4-FFF2-40B4-BE49-F238E27FC236}">
                <a16:creationId xmlns:a16="http://schemas.microsoft.com/office/drawing/2014/main" id="{A559475D-BCDF-DCF7-CED7-4BBDA352C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4382531"/>
            <a:ext cx="120142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lvl="0" indent="-571500" defTabSz="914400" eaLnBrk="1" hangingPunct="1">
              <a:buFont typeface="Wingdings" panose="05000000000000000000" pitchFamily="2" charset="2"/>
              <a:buChar char="§"/>
              <a:defRPr/>
            </a:pP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earch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Priori-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favor</a:t>
            </a:r>
            <a:r>
              <a:rPr lang="en-US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oderate-Γ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igh-Γ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ko-KR" altLang="ko-KR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</a:t>
            </a:r>
            <a:r>
              <a:rPr lang="ko-KR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1" hangingPunct="1">
              <a:defRPr/>
            </a:pPr>
            <a:r>
              <a:rPr lang="en-US" altLang="ko-KR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pPr lvl="0" defTabSz="914400" eaLnBrk="1" hangingPunct="1">
              <a:defRPr/>
            </a:pPr>
            <a:r>
              <a:rPr lang="en-US" altLang="ko-KR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ocal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GPR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efinement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Accelerating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2000" b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aster</a:t>
            </a:r>
            <a:r>
              <a:rPr lang="ko-KR" altLang="ko-KR" sz="2000" b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105">
            <a:extLst>
              <a:ext uri="{FF2B5EF4-FFF2-40B4-BE49-F238E27FC236}">
                <a16:creationId xmlns:a16="http://schemas.microsoft.com/office/drawing/2014/main" id="{3B6C6BDF-977A-33AA-6ACB-F7DF28460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464" y="5745667"/>
            <a:ext cx="117510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lvl="0" indent="-571500" defTabSz="9144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ko-KR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Very-Efficient, AI M.L. Fan Design Software  </a:t>
            </a:r>
            <a:endParaRPr lang="en-US" sz="2000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0" name="HeaderKicker"/>
          <p:cNvSpPr txBox="1"/>
          <p:nvPr/>
        </p:nvSpPr>
        <p:spPr>
          <a:xfrm>
            <a:off x="548640" y="100584"/>
            <a:ext cx="9600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1050" b="1" spc="160" dirty="0">
                <a:solidFill>
                  <a:srgbClr val="0F7B8A"/>
                </a:solidFill>
                <a:latin typeface="Arial" charset="0"/>
                <a:ea typeface="맑은 고딕"/>
                <a:cs typeface="Arial" charset="0"/>
              </a:rPr>
              <a:t>Multi-Fidelity Design of 3D Turbo Centrifugal Fan</a:t>
            </a:r>
          </a:p>
        </p:txBody>
      </p:sp>
      <p:sp>
        <p:nvSpPr>
          <p:cNvPr id="901" name="HeaderTitle"/>
          <p:cNvSpPr txBox="1"/>
          <p:nvPr/>
        </p:nvSpPr>
        <p:spPr>
          <a:xfrm>
            <a:off x="548640" y="310896"/>
            <a:ext cx="98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ko-KR" sz="2000" b="1" dirty="0">
                <a:solidFill>
                  <a:srgbClr val="002060"/>
                </a:solidFill>
                <a:latin typeface="Arial" charset="0"/>
                <a:ea typeface="맑은 고딕"/>
                <a:cs typeface="Arial" charset="0"/>
              </a:rPr>
              <a:t>Conclusions</a:t>
            </a:r>
          </a:p>
        </p:txBody>
      </p:sp>
      <p:sp>
        <p:nvSpPr>
          <p:cNvPr id="902" name="PageNum"/>
          <p:cNvSpPr txBox="1"/>
          <p:nvPr/>
        </p:nvSpPr>
        <p:spPr>
          <a:xfrm>
            <a:off x="10515600" y="121920"/>
            <a:ext cx="1127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1000" b="1" spc="100" dirty="0">
                <a:solidFill>
                  <a:srgbClr val="8A97A6"/>
                </a:solidFill>
                <a:latin typeface="Arial" charset="0"/>
                <a:ea typeface="맑은 고딕"/>
                <a:cs typeface="Arial" charset="0"/>
              </a:rPr>
              <a:t>19</a:t>
            </a:r>
            <a:r>
              <a:rPr lang="en-US" altLang="ko-KR" sz="1000" b="0" dirty="0">
                <a:solidFill>
                  <a:srgbClr val="B7C0CA"/>
                </a:solidFill>
                <a:latin typeface="Arial" charset="0"/>
                <a:ea typeface="맑은 고딕"/>
                <a:cs typeface="Arial" charset="0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150322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450</Words>
  <Application>Microsoft Macintosh PowerPoint</Application>
  <PresentationFormat>와이드스크린</PresentationFormat>
  <Paragraphs>111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신재권</dc:creator>
  <cp:lastModifiedBy>권재현</cp:lastModifiedBy>
  <cp:revision>18</cp:revision>
  <dcterms:created xsi:type="dcterms:W3CDTF">2026-08-18T07:44:49Z</dcterms:created>
  <dcterms:modified xsi:type="dcterms:W3CDTF">2026-08-25T01:44:52Z</dcterms:modified>
</cp:coreProperties>
</file>