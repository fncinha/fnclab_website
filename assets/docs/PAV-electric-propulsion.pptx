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318" r:id="rId3"/>
    <p:sldId id="329" r:id="rId4"/>
    <p:sldId id="330" r:id="rId5"/>
    <p:sldId id="355" r:id="rId6"/>
    <p:sldId id="320" r:id="rId7"/>
    <p:sldId id="352" r:id="rId8"/>
    <p:sldId id="374" r:id="rId9"/>
    <p:sldId id="375" r:id="rId10"/>
  </p:sldIdLst>
  <p:sldSz cx="12192000" cy="6858000"/>
  <p:notesSz cx="6858000" cy="9144000"/>
  <p:embeddedFontLst>
    <p:embeddedFont>
      <p:font typeface="나눔스퀘어라운드OTF Bold" panose="020B0600000101010101" charset="-127"/>
      <p:bold r:id="rId13"/>
    </p:embeddedFont>
    <p:embeddedFont>
      <p:font typeface="나눔스퀘어라운드OTF ExtraBold" panose="020B0600000101010101" charset="-127"/>
      <p:bold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F3B0C924-A8C4-4832-991B-2D97015AA63C}">
          <p14:sldIdLst>
            <p14:sldId id="256"/>
            <p14:sldId id="318"/>
            <p14:sldId id="329"/>
            <p14:sldId id="330"/>
            <p14:sldId id="355"/>
            <p14:sldId id="320"/>
            <p14:sldId id="352"/>
            <p14:sldId id="374"/>
            <p14:sldId id="3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6D6"/>
    <a:srgbClr val="000012"/>
    <a:srgbClr val="001B36"/>
    <a:srgbClr val="A49D84"/>
    <a:srgbClr val="A49C83"/>
    <a:srgbClr val="D8D8D8"/>
    <a:srgbClr val="D6E03D"/>
    <a:srgbClr val="003E76"/>
    <a:srgbClr val="A30923"/>
    <a:srgbClr val="0027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46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8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3F272BF-B802-4372-BA65-8DDC41D9D8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571EBAA-CDB0-4EC5-AD8F-78BA1F4F2A3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DD5014-DCB1-438F-BB18-3B233DBE0CF2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8914C1-5F09-468D-A843-0C3F948EC1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FC8619-9664-4356-AD22-BC063FC3FE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A816C-9D3C-48DC-9ADC-5C984ED1D9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6654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D012B3-284E-4702-A1FA-798EE468EA83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7FEF2E-E71B-4B65-8287-3282C29B52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2477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083135-E003-4902-BB7B-D6B33AD64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A92B96D-8556-4AFB-AFC6-803F5C78CE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70BA2B-0318-4695-9F0A-E87A9ACB5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46BA4-E0DF-45F6-B692-DC75E3FAB272}" type="datetime1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8FF37A-BB7F-4B26-B848-59047B73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B54024-544D-42F4-8C05-B1AB5C10E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DC34-FB4C-41F8-BE4F-4E4AB683C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766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826F12-AD15-4AE3-A94B-C55E160E1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DF6C13-C552-4939-A6BD-7F544D2DE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CF3026-B51B-482B-8FE6-630900F3E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F309-2B4D-4F3D-96D8-A3EEE1E5D602}" type="datetime1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9B0228-56BE-4438-B80C-565CEBAD1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DF262D-27BE-4178-BF65-725BA06AD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-62"/>
            <a:ext cx="2743200" cy="365125"/>
          </a:xfrm>
        </p:spPr>
        <p:txBody>
          <a:bodyPr/>
          <a:lstStyle/>
          <a:p>
            <a:fld id="{9225DC34-FB4C-41F8-BE4F-4E4AB683C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419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960802-FB66-496D-9277-AFB467976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110021-D74C-4453-AE0D-8345CEE1A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13DF58-A65B-4A72-8D2C-16A139320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38D1C-48DC-4357-AFDA-15F595AA900F}" type="datetime1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F327F6-0D1A-4B25-ABBE-0D7D96D8C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3F72E9-94A4-4A56-9166-93CD2F22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DC34-FB4C-41F8-BE4F-4E4AB683C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739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2FE23-7200-4183-89B8-FAA96DB42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C30F26-F8C2-42F6-97BB-B6FEBD8631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BB1746-984D-472C-933B-28B8AB39F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A9E14F-821C-4FFC-A1F0-C392B223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335AF-5E81-44F0-A5BE-467B4D79034D}" type="datetime1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28BFD7-77AD-4846-AC97-DC5A782E0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7FF601-372A-48A1-BA62-3165231DE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DC34-FB4C-41F8-BE4F-4E4AB683C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044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58A971-5718-418E-94DC-7E7D74C16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2EE4AE-56CC-4F38-8D8F-C84C7393E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D5A6EA-AC7B-4461-A961-03ED2B91C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004388B-D967-440C-8982-5E0F2995B0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88A289D-05A7-4977-BC97-0620BA614C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CE4D6E-BA4C-4E55-BCF2-F7AE027D8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C2751-B4A5-4706-BC71-661405D4D1FA}" type="datetime1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6B7897D-7C52-4B61-837D-AD2D8C0C9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A4DDB8C-C804-43C5-ADD9-27757960F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DC34-FB4C-41F8-BE4F-4E4AB683C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044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C1F8BC-1130-4CC4-ADFA-A1CF2B616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A0F00BE-85AE-4394-889D-D249082FC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64ED7-48FA-4E5C-AA65-DED5B23D0819}" type="datetime1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01CC2C3-4AE4-45D9-A98D-6E958F3EF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8D3578-EDEA-4768-923C-2AB509A17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DC34-FB4C-41F8-BE4F-4E4AB683C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775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BC120C4-0258-409E-AFF0-C6EAD615B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A6095-1B4C-4B83-80AD-EB0C5AA3DDC2}" type="datetime1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18220BB-1835-42FF-A2B0-BE142536A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2D6379-E518-402B-ADF9-BBFBFC9A7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DC34-FB4C-41F8-BE4F-4E4AB683C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793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26B2F-223D-4843-BA10-44FC2B14A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6F4A36-8AE3-4ECC-808D-BA65C9E16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C4A9C4-CD88-41E2-89B1-21C54E39A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42BF4E-B58F-4C7D-BA01-A8277CD96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CCA39-6496-402D-AC0F-A3DC0AAE0CEF}" type="datetime1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7A0B89-14D3-4AAD-8B29-589DF657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E41C80-0BF2-4720-9CC7-2F258B53D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DC34-FB4C-41F8-BE4F-4E4AB683C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065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1DD5A-3FE0-43C3-9CB8-721A44EC7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E0C5E00-5B2D-4A9B-9A6C-09D9556163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1AC90B-AD78-435B-BF75-A8D9504FA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B1B329-B93E-4F58-B104-64BBA858A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8B199-0D4B-43D0-B7CA-00FDA91A1CB2}" type="datetime1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E32668-E2BF-4BC4-BFFA-0308F2EF9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FBC97E-446C-449E-A818-FDD1F7EDF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DC34-FB4C-41F8-BE4F-4E4AB683C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956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43BE6-CE66-43A6-99FE-B690689E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A9B4495-ECB1-4B77-BEC1-4229359DF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F75461-2BF8-47DF-A571-A900C93EB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515A-5E9E-4D4B-A1FC-D3C611D3C194}" type="datetime1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636616-EAAF-4FF7-8056-5989A5E3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D23C11-B7C0-45D1-B932-4C2233886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DC34-FB4C-41F8-BE4F-4E4AB683C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8249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4EB86BC-54E1-43BF-8008-B31E409A8B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0F9CA74-5C24-4712-950C-20BA01C1D5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0523BC-F719-417D-8EC9-5F1EFA063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D74C2-30DC-4E1A-AD2C-6546E7BEC88C}" type="datetime1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82A46E-E241-487F-899D-0DDFA0632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A8267F-5AD5-41B4-84CA-ABC496BFD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DC34-FB4C-41F8-BE4F-4E4AB683C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378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F368199-80E6-4903-AC97-FE1A8D0FE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299B62-56FF-4ECD-89A3-889B1DEF2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585C61-23A1-4492-ACEF-C71CAF4C98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713CB-1FA7-4156-A69B-73AB8417E21A}" type="datetime1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697926-04C0-4E66-9D64-7F093FE33A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EE130F-821F-4806-8175-BE19E2A8D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31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25DC34-FB4C-41F8-BE4F-4E4AB683C1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121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13" Type="http://schemas.openxmlformats.org/officeDocument/2006/relationships/image" Target="../media/image22.jpeg"/><Relationship Id="rId3" Type="http://schemas.microsoft.com/office/2007/relationships/hdphoto" Target="../media/hdphoto1.wdp"/><Relationship Id="rId7" Type="http://schemas.openxmlformats.org/officeDocument/2006/relationships/image" Target="../media/image17.png"/><Relationship Id="rId12" Type="http://schemas.microsoft.com/office/2007/relationships/hdphoto" Target="../media/hdphoto3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microsoft.com/office/2007/relationships/hdphoto" Target="../media/hdphoto2.wdp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9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jpe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jpeg"/><Relationship Id="rId9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6CD0CE2-D576-4E7C-819A-B27A2753DCCA}"/>
              </a:ext>
            </a:extLst>
          </p:cNvPr>
          <p:cNvSpPr txBox="1">
            <a:spLocks/>
          </p:cNvSpPr>
          <p:nvPr/>
        </p:nvSpPr>
        <p:spPr>
          <a:xfrm>
            <a:off x="231020" y="713963"/>
            <a:ext cx="11719249" cy="14519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b="1" dirty="0">
                <a:solidFill>
                  <a:srgbClr val="00274D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PAV </a:t>
            </a:r>
            <a:r>
              <a:rPr lang="ko-KR" altLang="en-US" sz="3200" b="1" dirty="0">
                <a:solidFill>
                  <a:srgbClr val="00274D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상용화를 위한 </a:t>
            </a:r>
            <a:r>
              <a:rPr lang="en-US" altLang="ko-KR" sz="3200" b="1" dirty="0">
                <a:solidFill>
                  <a:srgbClr val="00274D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25kW</a:t>
            </a:r>
            <a:r>
              <a:rPr lang="ko-KR" altLang="en-US" sz="3200" b="1" dirty="0">
                <a:solidFill>
                  <a:srgbClr val="00274D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급 전기추진시스템 핵심부품 개발</a:t>
            </a:r>
            <a:endParaRPr lang="en-US" altLang="ko-KR" sz="3200" b="1" dirty="0">
              <a:solidFill>
                <a:srgbClr val="00274D"/>
              </a:solidFill>
              <a:latin typeface="나눔스퀘어라운드OTF ExtraBold" panose="020B0600000101010101" pitchFamily="34" charset="-127"/>
              <a:ea typeface="나눔스퀘어라운드OTF ExtraBold" panose="020B0600000101010101" pitchFamily="34" charset="-127"/>
            </a:endParaRPr>
          </a:p>
          <a:p>
            <a:pPr algn="ctr"/>
            <a:r>
              <a:rPr lang="ko-KR" altLang="en-US" sz="3200" b="1" dirty="0">
                <a:solidFill>
                  <a:srgbClr val="003E7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컨소시엄형 기술개발</a:t>
            </a:r>
            <a:endParaRPr lang="en-US" altLang="ko-KR" sz="3200" b="1" dirty="0">
              <a:solidFill>
                <a:srgbClr val="003E76"/>
              </a:solidFill>
              <a:latin typeface="나눔스퀘어라운드OTF ExtraBold" panose="020B0600000101010101" pitchFamily="34" charset="-127"/>
              <a:ea typeface="나눔스퀘어라운드OTF ExtraBold" panose="020B0600000101010101" pitchFamily="34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1D0A92-993A-4E84-8413-E64FEC5F2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8357" y="5446409"/>
            <a:ext cx="1702951" cy="505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15F0BE86-F0D1-45C1-B6A3-1B47A5A1F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615" y="6185224"/>
            <a:ext cx="1492009" cy="315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미래를 선도하는 기업 HSG">
            <a:extLst>
              <a:ext uri="{FF2B5EF4-FFF2-40B4-BE49-F238E27FC236}">
                <a16:creationId xmlns:a16="http://schemas.microsoft.com/office/drawing/2014/main" id="{FB94ABEA-F1B1-40C5-84B0-A876CB8A1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758" y="6218677"/>
            <a:ext cx="1445774" cy="2197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5E26CAC-5F8D-4040-8B5C-74279957EF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6908" y="6155933"/>
            <a:ext cx="1106931" cy="345246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920FA1D6-7BAE-448C-BAAE-5D35E6E0A9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3125" y="2033696"/>
            <a:ext cx="4762500" cy="3067050"/>
          </a:xfrm>
          <a:prstGeom prst="ellipse">
            <a:avLst/>
          </a:prstGeom>
          <a:ln w="63500" cap="rnd">
            <a:solidFill>
              <a:srgbClr val="001B36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3" name="Picture 6" descr="E:\업무\00_개발프로젝트\1_검토\220126_정부과제_PAV\서보산전.png">
            <a:extLst>
              <a:ext uri="{FF2B5EF4-FFF2-40B4-BE49-F238E27FC236}">
                <a16:creationId xmlns:a16="http://schemas.microsoft.com/office/drawing/2014/main" id="{ABA957A8-6AC7-4EA3-9EA2-A88A08D95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5087" y="6188361"/>
            <a:ext cx="1319659" cy="304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0D820631-9434-45B3-B38C-F886793FE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303" y="6185224"/>
            <a:ext cx="1694109" cy="353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6A01ADDB-B7B1-4584-831C-300FDAB8BFA3}"/>
              </a:ext>
            </a:extLst>
          </p:cNvPr>
          <p:cNvSpPr/>
          <p:nvPr/>
        </p:nvSpPr>
        <p:spPr>
          <a:xfrm>
            <a:off x="0" y="6642847"/>
            <a:ext cx="12192000" cy="215140"/>
          </a:xfrm>
          <a:prstGeom prst="rect">
            <a:avLst/>
          </a:prstGeom>
          <a:solidFill>
            <a:srgbClr val="001B36"/>
          </a:solidFill>
          <a:ln>
            <a:solidFill>
              <a:srgbClr val="0000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9940DB4-2F4C-4486-B156-27C19D975D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5994" y="6168486"/>
            <a:ext cx="1594523" cy="376755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6371312-4C34-4DFD-B2D4-3564FD5D5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DC34-FB4C-41F8-BE4F-4E4AB683C1E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652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B5242E-FEDF-45E2-B6E9-B8E67F7E11EB}"/>
              </a:ext>
            </a:extLst>
          </p:cNvPr>
          <p:cNvSpPr txBox="1"/>
          <p:nvPr/>
        </p:nvSpPr>
        <p:spPr>
          <a:xfrm>
            <a:off x="521040" y="912409"/>
            <a:ext cx="10372165" cy="630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b="1" kern="0" spc="0" dirty="0">
                <a:solidFill>
                  <a:srgbClr val="001B36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◦ 중요성</a:t>
            </a:r>
            <a:endParaRPr lang="ko-KR" altLang="en-US" sz="1400" kern="0" spc="0" dirty="0">
              <a:solidFill>
                <a:srgbClr val="001B36"/>
              </a:solidFill>
              <a:effectLst/>
              <a:latin typeface="나눔스퀘어라운드OTF ExtraBold" panose="020B0600000101010101" pitchFamily="34" charset="-127"/>
              <a:ea typeface="나눔스퀘어라운드OTF ExtraBold" panose="020B0600000101010101" pitchFamily="34" charset="-127"/>
            </a:endParaRPr>
          </a:p>
          <a:p>
            <a:pPr marL="285750" marR="0" lvl="0" indent="-285750" algn="just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PAV</a:t>
            </a:r>
            <a:r>
              <a:rPr lang="ko-KR" altLang="en-US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는 미래형 개인용 운송수단으로서 개개인이 집에서부터 목적지까지</a:t>
            </a:r>
            <a:r>
              <a:rPr lang="en-US" altLang="ko-KR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(Door-to-Door) </a:t>
            </a:r>
            <a:r>
              <a:rPr lang="ko-KR" altLang="en-US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지상과 공중의 교통망을 이용하여 이동할 수 있는 차세대 교통수단</a:t>
            </a:r>
            <a:endParaRPr lang="ko-KR" altLang="en-US" sz="1200" kern="0" spc="-100" dirty="0">
              <a:solidFill>
                <a:srgbClr val="000012"/>
              </a:solidFill>
              <a:effectLst/>
              <a:latin typeface="나눔스퀘어라운드OTF ExtraBold" panose="020B0600000101010101" pitchFamily="34" charset="-127"/>
              <a:ea typeface="나눔스퀘어라운드OTF ExtraBold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F53BD9-0C22-40CC-A3E7-87C0C02478BC}"/>
              </a:ext>
            </a:extLst>
          </p:cNvPr>
          <p:cNvSpPr txBox="1"/>
          <p:nvPr/>
        </p:nvSpPr>
        <p:spPr>
          <a:xfrm>
            <a:off x="521040" y="1878266"/>
            <a:ext cx="10694894" cy="630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7350" marR="0" indent="-387350" algn="just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b="1" kern="0" spc="0" dirty="0">
                <a:solidFill>
                  <a:srgbClr val="001B36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◦ 문제점 및 전망</a:t>
            </a:r>
            <a:endParaRPr lang="en-US" altLang="ko-KR" sz="1400" b="1" kern="0" spc="0" dirty="0">
              <a:solidFill>
                <a:srgbClr val="001B36"/>
              </a:solidFill>
              <a:effectLst/>
              <a:latin typeface="나눔스퀘어라운드OTF ExtraBold" panose="020B0600000101010101" pitchFamily="34" charset="-127"/>
              <a:ea typeface="나눔스퀘어라운드OTF ExtraBold" panose="020B0600000101010101" pitchFamily="34" charset="-127"/>
            </a:endParaRPr>
          </a:p>
          <a:p>
            <a:pPr marL="285750" marR="0" lvl="0" indent="-285750" algn="just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PAV</a:t>
            </a:r>
            <a:r>
              <a:rPr lang="ko-KR" altLang="en-US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는 아직 시장이 열리지 않은 상황으로 플랫폼 특성 상 해외제품에 </a:t>
            </a:r>
            <a:r>
              <a:rPr lang="en-US" altLang="ko-KR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Lock-in</a:t>
            </a:r>
            <a:r>
              <a:rPr lang="ko-KR" altLang="en-US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이 되기 전에 최초의 기체부터 국산화 되어야 시장 진입이 가능</a:t>
            </a:r>
            <a:endParaRPr lang="ko-KR" altLang="en-US" sz="1200" kern="0" spc="-100" dirty="0">
              <a:solidFill>
                <a:srgbClr val="000012"/>
              </a:solidFill>
              <a:effectLst/>
              <a:latin typeface="나눔스퀘어라운드OTF ExtraBold" panose="020B0600000101010101" pitchFamily="34" charset="-127"/>
              <a:ea typeface="나눔스퀘어라운드OTF ExtraBold" panose="020B0600000101010101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5C8163-0EA9-44DA-A52A-9579E788D450}"/>
              </a:ext>
            </a:extLst>
          </p:cNvPr>
          <p:cNvSpPr txBox="1"/>
          <p:nvPr/>
        </p:nvSpPr>
        <p:spPr>
          <a:xfrm>
            <a:off x="521040" y="2844123"/>
            <a:ext cx="10784541" cy="1147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7350" marR="0" indent="-387350" algn="just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b="1" kern="0" spc="0" dirty="0">
                <a:solidFill>
                  <a:srgbClr val="001B36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◦ 개발기술 필요성</a:t>
            </a:r>
            <a:endParaRPr lang="en-US" altLang="ko-KR" sz="1400" b="1" kern="0" spc="0" dirty="0">
              <a:solidFill>
                <a:srgbClr val="001B36"/>
              </a:solidFill>
              <a:effectLst/>
              <a:latin typeface="나눔스퀘어라운드OTF ExtraBold" panose="020B0600000101010101" pitchFamily="34" charset="-127"/>
              <a:ea typeface="나눔스퀘어라운드OTF ExtraBold" panose="020B0600000101010101" pitchFamily="34" charset="-127"/>
            </a:endParaRPr>
          </a:p>
          <a:p>
            <a:pPr marL="387350" indent="-387350" algn="just" fontAlgn="base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kern="0" spc="0" dirty="0" err="1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유인드론용</a:t>
            </a:r>
            <a:r>
              <a:rPr lang="ko-KR" altLang="en-US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 프로펠러 연구개발은 선진국보다 </a:t>
            </a:r>
            <a:r>
              <a:rPr lang="en-US" altLang="ko-KR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3</a:t>
            </a:r>
            <a:r>
              <a:rPr lang="ko-KR" altLang="en-US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년 정도 늦은 상태</a:t>
            </a:r>
            <a:r>
              <a:rPr lang="en-US" altLang="ko-KR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, </a:t>
            </a:r>
            <a:r>
              <a:rPr lang="ko-KR" altLang="en-US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시장 진입을 위해 </a:t>
            </a:r>
            <a:r>
              <a:rPr lang="ko-KR" altLang="en-US" sz="1200" kern="0" spc="0" dirty="0" err="1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고양력</a:t>
            </a:r>
            <a:r>
              <a:rPr lang="en-US" altLang="ko-KR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·</a:t>
            </a:r>
            <a:r>
              <a:rPr lang="ko-KR" altLang="en-US" sz="1200" kern="0" spc="0" dirty="0" err="1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극저소음</a:t>
            </a:r>
            <a:r>
              <a:rPr lang="en-US" altLang="ko-KR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·</a:t>
            </a:r>
            <a:r>
              <a:rPr lang="ko-KR" altLang="en-US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고안정성 </a:t>
            </a:r>
            <a:r>
              <a:rPr lang="ko-KR" altLang="en-US" sz="1200" kern="0" spc="0" dirty="0" err="1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익형</a:t>
            </a:r>
            <a:r>
              <a:rPr lang="ko-KR" altLang="en-US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 개발이 필수조건</a:t>
            </a:r>
            <a:endParaRPr lang="ko-KR" altLang="en-US" sz="1200" kern="0" spc="-100" dirty="0">
              <a:solidFill>
                <a:srgbClr val="000012"/>
              </a:solidFill>
              <a:effectLst/>
              <a:latin typeface="나눔스퀘어라운드OTF ExtraBold" panose="020B0600000101010101" pitchFamily="34" charset="-127"/>
              <a:ea typeface="나눔스퀘어라운드OTF ExtraBold" panose="020B0600000101010101" pitchFamily="34" charset="-127"/>
            </a:endParaRPr>
          </a:p>
          <a:p>
            <a:pPr marL="387350" indent="-387350" algn="just" fontAlgn="base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ko-KR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BLDC </a:t>
            </a:r>
            <a:r>
              <a:rPr lang="ko-KR" altLang="en-US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모터의 수요와 기술개발 요구가 급증</a:t>
            </a:r>
            <a:r>
              <a:rPr lang="en-US" altLang="ko-KR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, </a:t>
            </a:r>
            <a:r>
              <a:rPr lang="ko-KR" altLang="en-US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고 신뢰성과 고효율</a:t>
            </a:r>
            <a:r>
              <a:rPr lang="en-US" altLang="ko-KR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, </a:t>
            </a:r>
            <a:r>
              <a:rPr lang="ko-KR" altLang="en-US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고출력</a:t>
            </a:r>
            <a:r>
              <a:rPr lang="en-US" altLang="ko-KR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, </a:t>
            </a:r>
            <a:r>
              <a:rPr lang="ko-KR" altLang="en-US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경량의 </a:t>
            </a:r>
            <a:r>
              <a:rPr lang="en-US" altLang="ko-KR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BLDC </a:t>
            </a:r>
            <a:r>
              <a:rPr lang="ko-KR" altLang="en-US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모터 기술 개발 필요</a:t>
            </a:r>
            <a:endParaRPr lang="en-US" altLang="ko-KR" sz="1200" kern="0" spc="0" dirty="0">
              <a:solidFill>
                <a:srgbClr val="000012"/>
              </a:solidFill>
              <a:effectLst/>
              <a:latin typeface="나눔스퀘어라운드OTF ExtraBold" panose="020B0600000101010101" pitchFamily="34" charset="-127"/>
              <a:ea typeface="나눔스퀘어라운드OTF ExtraBold" panose="020B0600000101010101" pitchFamily="34" charset="-127"/>
            </a:endParaRPr>
          </a:p>
          <a:p>
            <a:pPr marL="387350" indent="-387350" algn="just" fontAlgn="base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저가형 </a:t>
            </a:r>
            <a:r>
              <a:rPr lang="ko-KR" altLang="en-US" sz="1200" kern="0" spc="0" dirty="0" err="1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드론</a:t>
            </a:r>
            <a:r>
              <a:rPr lang="ko-KR" altLang="en-US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 인버터 시장 가격적인 부분에서 중국제품 대비 경쟁력이 부족</a:t>
            </a:r>
            <a:r>
              <a:rPr lang="en-US" altLang="ko-KR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, </a:t>
            </a:r>
            <a:r>
              <a:rPr lang="ko-KR" altLang="en-US" sz="12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판매가 어려움</a:t>
            </a:r>
            <a:endParaRPr lang="ko-KR" altLang="en-US" sz="1200" kern="0" spc="-100" dirty="0">
              <a:solidFill>
                <a:srgbClr val="000012"/>
              </a:solidFill>
              <a:effectLst/>
              <a:latin typeface="나눔스퀘어라운드OTF ExtraBold" panose="020B0600000101010101" pitchFamily="34" charset="-127"/>
              <a:ea typeface="나눔스퀘어라운드OTF ExtraBold" panose="020B0600000101010101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DB13AE-D66B-48F4-B430-C1DE4146690E}"/>
              </a:ext>
            </a:extLst>
          </p:cNvPr>
          <p:cNvSpPr txBox="1"/>
          <p:nvPr/>
        </p:nvSpPr>
        <p:spPr>
          <a:xfrm>
            <a:off x="521040" y="4327044"/>
            <a:ext cx="10784541" cy="1147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b="1" kern="0" spc="0" dirty="0">
                <a:solidFill>
                  <a:srgbClr val="001B36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◦ 적용분야 및 용도</a:t>
            </a:r>
            <a:endParaRPr lang="ko-KR" altLang="en-US" sz="1400" kern="0" spc="0" dirty="0">
              <a:solidFill>
                <a:srgbClr val="001B36"/>
              </a:solidFill>
              <a:effectLst/>
              <a:latin typeface="나눔스퀘어라운드OTF ExtraBold" panose="020B0600000101010101" pitchFamily="34" charset="-127"/>
              <a:ea typeface="나눔스퀘어라운드OTF ExtraBold" panose="020B0600000101010101" pitchFamily="34" charset="-127"/>
            </a:endParaRPr>
          </a:p>
          <a:p>
            <a:pPr marL="342900" marR="0" lvl="0" indent="-342900" algn="just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산업 분야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: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의무용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보안 및 치안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운송업 등과 같은 광범위한 산업군에서 활용 가능</a:t>
            </a:r>
            <a:endParaRPr lang="ko-KR" altLang="en-US" sz="1200" kern="0" spc="-100" dirty="0">
              <a:solidFill>
                <a:srgbClr val="000000"/>
              </a:solidFill>
              <a:effectLst/>
              <a:latin typeface="나눔스퀘어라운드OTF ExtraBold" panose="020B0600000101010101" pitchFamily="34" charset="-127"/>
              <a:ea typeface="나눔스퀘어라운드OTF ExtraBold" panose="020B0600000101010101" pitchFamily="34" charset="-127"/>
            </a:endParaRPr>
          </a:p>
          <a:p>
            <a:pPr marL="342900" marR="0" lvl="0" indent="-342900" algn="just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군수 분야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: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군 적지 침투나 단거리 이동 시 기존의 헬기는 크기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중량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소음 면에서 한계가 있어 침투수단 및 이동수단으로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PAV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가 용이</a:t>
            </a:r>
            <a:endParaRPr lang="ko-KR" altLang="en-US" sz="1200" kern="0" spc="-100" dirty="0">
              <a:solidFill>
                <a:srgbClr val="000000"/>
              </a:solidFill>
              <a:effectLst/>
              <a:latin typeface="나눔스퀘어라운드OTF ExtraBold" panose="020B0600000101010101" pitchFamily="34" charset="-127"/>
              <a:ea typeface="나눔스퀘어라운드OTF ExtraBold" panose="020B0600000101010101" pitchFamily="34" charset="-127"/>
            </a:endParaRPr>
          </a:p>
          <a:p>
            <a:pPr marL="342900" marR="0" lvl="0" indent="-342900" algn="just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민간 분야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: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개인용 이동수단부터 서비스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관광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오락 용도 등 상업용으로도 용이</a:t>
            </a:r>
            <a:endParaRPr lang="ko-KR" altLang="en-US" sz="1200" kern="0" spc="-100" dirty="0">
              <a:solidFill>
                <a:srgbClr val="000000"/>
              </a:solidFill>
              <a:effectLst/>
              <a:latin typeface="나눔스퀘어라운드OTF ExtraBold" panose="020B0600000101010101" pitchFamily="34" charset="-127"/>
              <a:ea typeface="나눔스퀘어라운드OTF ExtraBold" panose="020B0600000101010101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F52694-1E4E-478F-9B24-888E65C13F4A}"/>
              </a:ext>
            </a:extLst>
          </p:cNvPr>
          <p:cNvSpPr txBox="1"/>
          <p:nvPr/>
        </p:nvSpPr>
        <p:spPr>
          <a:xfrm>
            <a:off x="174814" y="173922"/>
            <a:ext cx="3688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PAV</a:t>
            </a:r>
            <a:r>
              <a:rPr lang="ko-KR" altLang="en-US" sz="2800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 개요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3FB5178-85F4-440F-B24E-7AFBDF17DFD9}"/>
              </a:ext>
            </a:extLst>
          </p:cNvPr>
          <p:cNvSpPr/>
          <p:nvPr/>
        </p:nvSpPr>
        <p:spPr>
          <a:xfrm>
            <a:off x="0" y="6642847"/>
            <a:ext cx="12192000" cy="215140"/>
          </a:xfrm>
          <a:prstGeom prst="rect">
            <a:avLst/>
          </a:prstGeom>
          <a:solidFill>
            <a:srgbClr val="001B36"/>
          </a:solidFill>
          <a:ln>
            <a:solidFill>
              <a:srgbClr val="0000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B91E5FC-1FEB-43F2-8511-829C581FB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DC34-FB4C-41F8-BE4F-4E4AB683C1E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725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B2C7EE-E574-4FB0-A4C6-DD81589F5D25}"/>
              </a:ext>
            </a:extLst>
          </p:cNvPr>
          <p:cNvSpPr txBox="1"/>
          <p:nvPr/>
        </p:nvSpPr>
        <p:spPr>
          <a:xfrm>
            <a:off x="174814" y="173922"/>
            <a:ext cx="3688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사업화 실적 </a:t>
            </a:r>
            <a:r>
              <a:rPr lang="en-US" altLang="ko-KR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– 1</a:t>
            </a:r>
            <a:r>
              <a:rPr lang="ko-KR" altLang="en-US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세부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595F0F4-6C02-49D8-A272-0008F684A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866143"/>
              </p:ext>
            </p:extLst>
          </p:nvPr>
        </p:nvGraphicFramePr>
        <p:xfrm>
          <a:off x="712806" y="756707"/>
          <a:ext cx="10766388" cy="2021840"/>
        </p:xfrm>
        <a:graphic>
          <a:graphicData uri="http://schemas.openxmlformats.org/drawingml/2006/table">
            <a:tbl>
              <a:tblPr/>
              <a:tblGrid>
                <a:gridCol w="2170983">
                  <a:extLst>
                    <a:ext uri="{9D8B030D-6E8A-4147-A177-3AD203B41FA5}">
                      <a16:colId xmlns:a16="http://schemas.microsoft.com/office/drawing/2014/main" val="4039777214"/>
                    </a:ext>
                  </a:extLst>
                </a:gridCol>
                <a:gridCol w="1259912">
                  <a:extLst>
                    <a:ext uri="{9D8B030D-6E8A-4147-A177-3AD203B41FA5}">
                      <a16:colId xmlns:a16="http://schemas.microsoft.com/office/drawing/2014/main" val="2969816699"/>
                    </a:ext>
                  </a:extLst>
                </a:gridCol>
                <a:gridCol w="4188360">
                  <a:extLst>
                    <a:ext uri="{9D8B030D-6E8A-4147-A177-3AD203B41FA5}">
                      <a16:colId xmlns:a16="http://schemas.microsoft.com/office/drawing/2014/main" val="1155703069"/>
                    </a:ext>
                  </a:extLst>
                </a:gridCol>
                <a:gridCol w="1183107">
                  <a:extLst>
                    <a:ext uri="{9D8B030D-6E8A-4147-A177-3AD203B41FA5}">
                      <a16:colId xmlns:a16="http://schemas.microsoft.com/office/drawing/2014/main" val="1256434333"/>
                    </a:ext>
                  </a:extLst>
                </a:gridCol>
                <a:gridCol w="1964026">
                  <a:extLst>
                    <a:ext uri="{9D8B030D-6E8A-4147-A177-3AD203B41FA5}">
                      <a16:colId xmlns:a16="http://schemas.microsoft.com/office/drawing/2014/main" val="1840044555"/>
                    </a:ext>
                  </a:extLst>
                </a:gridCol>
              </a:tblGrid>
              <a:tr h="397299">
                <a:tc>
                  <a:txBody>
                    <a:bodyPr/>
                    <a:lstStyle/>
                    <a:p>
                      <a:pPr marL="63500" marR="6350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사업화 제품명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제품용도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품질 및 가격경쟁력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국내외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  <a:p>
                      <a:pPr marL="63500" marR="6350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국가명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판매채널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  <a:p>
                      <a:pPr marL="63500" marR="6350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온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‧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오프라인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816722"/>
                  </a:ext>
                </a:extLst>
              </a:tr>
              <a:tr h="3972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고효율 산업용 팬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냉각팬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산업용 고효율 저소음 프로펠러 팬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해외 제품 수입품 대비 부대 비용 감소로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10%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이상 가격 절감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국내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한국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직판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오프라인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5164004"/>
                  </a:ext>
                </a:extLst>
              </a:tr>
              <a:tr h="3972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FRP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일체형 차체 판넬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차량용 부품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중형버스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FRP Body Panel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부품 개발 경량화 및 품질 수준 개선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국내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한국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직판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오프라인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7372700"/>
                  </a:ext>
                </a:extLst>
              </a:tr>
              <a:tr h="3972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CFRP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사이드 루프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차량용 부품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CFRP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경량 사이드 루프 모듈 개발</a:t>
                      </a:r>
                    </a:p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경량화 및 품질 수준 개선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국내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한국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직판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오프라인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4181921"/>
                  </a:ext>
                </a:extLst>
              </a:tr>
              <a:tr h="3972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3 MW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블레이드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풍력블레이드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 날개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서남해 적용 풍력터빈 블레이드</a:t>
                      </a:r>
                    </a:p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제작 및 경량화 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국내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한국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직판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오프라인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325603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94CB03C3-2A37-41DE-9073-58EF0ED6AF2D}"/>
              </a:ext>
            </a:extLst>
          </p:cNvPr>
          <p:cNvGrpSpPr/>
          <p:nvPr/>
        </p:nvGrpSpPr>
        <p:grpSpPr>
          <a:xfrm>
            <a:off x="712806" y="3003440"/>
            <a:ext cx="2465294" cy="1632949"/>
            <a:chOff x="6956612" y="543254"/>
            <a:chExt cx="2465294" cy="1632949"/>
          </a:xfrm>
        </p:grpSpPr>
        <p:pic>
          <p:nvPicPr>
            <p:cNvPr id="14" name="그림 13" descr="하늘, 보트, 운송, 선박이(가) 표시된 사진&#10;&#10;자동 생성된 설명">
              <a:extLst>
                <a:ext uri="{FF2B5EF4-FFF2-40B4-BE49-F238E27FC236}">
                  <a16:creationId xmlns:a16="http://schemas.microsoft.com/office/drawing/2014/main" id="{CC50EB08-3E96-4B0F-A53A-2C3CDEC49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56612" y="543254"/>
              <a:ext cx="2465294" cy="1386728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40D8CB1-C671-4EFE-8D03-BAF38A5D74E0}"/>
                </a:ext>
              </a:extLst>
            </p:cNvPr>
            <p:cNvSpPr txBox="1"/>
            <p:nvPr/>
          </p:nvSpPr>
          <p:spPr>
            <a:xfrm>
              <a:off x="6956612" y="1929982"/>
              <a:ext cx="24652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rPr>
                <a:t>고효율 산업용 팬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8890C3D6-809E-4F27-9EF8-66F7EE3B7BEB}"/>
              </a:ext>
            </a:extLst>
          </p:cNvPr>
          <p:cNvGrpSpPr/>
          <p:nvPr/>
        </p:nvGrpSpPr>
        <p:grpSpPr>
          <a:xfrm>
            <a:off x="3178100" y="3003440"/>
            <a:ext cx="4179034" cy="1634693"/>
            <a:chOff x="3608467" y="3627113"/>
            <a:chExt cx="4179034" cy="163469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30952ED-EBEE-42AC-A91B-3A01E148EDDE}"/>
                </a:ext>
              </a:extLst>
            </p:cNvPr>
            <p:cNvPicPr>
              <a:picLocks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10" t="11854" b="3419"/>
            <a:stretch/>
          </p:blipFill>
          <p:spPr>
            <a:xfrm>
              <a:off x="3608467" y="3627113"/>
              <a:ext cx="2089517" cy="1386728"/>
            </a:xfrm>
            <a:prstGeom prst="rect">
              <a:avLst/>
            </a:prstGeom>
          </p:spPr>
        </p:pic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50D1F348-4064-4280-AAA8-BB07CE3D635E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00" t="5928" r="6667" b="5158"/>
            <a:stretch/>
          </p:blipFill>
          <p:spPr bwMode="auto">
            <a:xfrm>
              <a:off x="5697984" y="3627113"/>
              <a:ext cx="2089517" cy="13867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A9A21C3-EC88-49B8-A955-10DDDDA20DEF}"/>
                </a:ext>
              </a:extLst>
            </p:cNvPr>
            <p:cNvSpPr txBox="1"/>
            <p:nvPr/>
          </p:nvSpPr>
          <p:spPr>
            <a:xfrm>
              <a:off x="4653225" y="5015585"/>
              <a:ext cx="1739153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+mn-cs"/>
                </a:rPr>
                <a:t>FRP </a:t>
              </a: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+mn-cs"/>
                </a:rPr>
                <a:t>일체형 차체 판넬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5D9DA38-9FD6-456E-A746-7B3DF169383A}"/>
              </a:ext>
            </a:extLst>
          </p:cNvPr>
          <p:cNvSpPr txBox="1"/>
          <p:nvPr/>
        </p:nvSpPr>
        <p:spPr>
          <a:xfrm>
            <a:off x="5442798" y="6168502"/>
            <a:ext cx="17391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+mn-cs"/>
              </a:rPr>
              <a:t>CFRP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+mn-cs"/>
              </a:rPr>
              <a:t>사이드 루프</a:t>
            </a:r>
          </a:p>
        </p:txBody>
      </p:sp>
      <p:pic>
        <p:nvPicPr>
          <p:cNvPr id="13" name="Picture 2" descr="D:\2. 국책과제\기타지원사업\전북자동차기술원\2015년 친환경자동차산업 기술 및 역량강화 지원사업_신청\2015 시제품 제작\CFRP 루프레일.jpg">
            <a:extLst>
              <a:ext uri="{FF2B5EF4-FFF2-40B4-BE49-F238E27FC236}">
                <a16:creationId xmlns:a16="http://schemas.microsoft.com/office/drawing/2014/main" id="{35A976D4-55C8-4DFE-A6A1-45A9D55828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25" b="47468"/>
          <a:stretch/>
        </p:blipFill>
        <p:spPr bwMode="auto">
          <a:xfrm>
            <a:off x="2415273" y="4714566"/>
            <a:ext cx="7361453" cy="1386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C0A0067-3A78-4A4B-B03C-2BFA65A9ECD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4" t="41200" r="1759" b="42133"/>
          <a:stretch/>
        </p:blipFill>
        <p:spPr>
          <a:xfrm>
            <a:off x="7357134" y="3169807"/>
            <a:ext cx="4503172" cy="99951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8716EF1-7CE3-4478-8D7A-F4187BBB480E}"/>
              </a:ext>
            </a:extLst>
          </p:cNvPr>
          <p:cNvSpPr txBox="1"/>
          <p:nvPr/>
        </p:nvSpPr>
        <p:spPr>
          <a:xfrm>
            <a:off x="8577074" y="4390168"/>
            <a:ext cx="17391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+mn-cs"/>
              </a:rPr>
              <a:t>3</a:t>
            </a:r>
            <a:r>
              <a:rPr lang="en-US" altLang="ko-KR" sz="1000" dirty="0">
                <a:solidFill>
                  <a:prstClr val="black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MW</a:t>
            </a:r>
            <a:r>
              <a:rPr lang="ko-KR" altLang="en-US" sz="1000" dirty="0">
                <a:solidFill>
                  <a:prstClr val="black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 블레이드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라운드OTF Bold" panose="020B0600000101010101" pitchFamily="34" charset="-127"/>
              <a:ea typeface="나눔스퀘어라운드OTF Bold" panose="020B0600000101010101" pitchFamily="34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2275B0B-CF15-40D3-991A-10ECB39A4A3B}"/>
              </a:ext>
            </a:extLst>
          </p:cNvPr>
          <p:cNvSpPr/>
          <p:nvPr/>
        </p:nvSpPr>
        <p:spPr>
          <a:xfrm>
            <a:off x="0" y="6642847"/>
            <a:ext cx="12192000" cy="215140"/>
          </a:xfrm>
          <a:prstGeom prst="rect">
            <a:avLst/>
          </a:prstGeom>
          <a:solidFill>
            <a:srgbClr val="001B36"/>
          </a:solidFill>
          <a:ln>
            <a:solidFill>
              <a:srgbClr val="0000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9110F9-663E-4E8C-820F-37B42747B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DC34-FB4C-41F8-BE4F-4E4AB683C1E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771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B683986-ECDC-4EE8-9A62-F560A33D7A5A}"/>
              </a:ext>
            </a:extLst>
          </p:cNvPr>
          <p:cNvGraphicFramePr>
            <a:graphicFrameLocks noGrp="1"/>
          </p:cNvGraphicFramePr>
          <p:nvPr/>
        </p:nvGraphicFramePr>
        <p:xfrm>
          <a:off x="712807" y="756707"/>
          <a:ext cx="10766387" cy="2426208"/>
        </p:xfrm>
        <a:graphic>
          <a:graphicData uri="http://schemas.openxmlformats.org/drawingml/2006/table">
            <a:tbl>
              <a:tblPr/>
              <a:tblGrid>
                <a:gridCol w="2170984">
                  <a:extLst>
                    <a:ext uri="{9D8B030D-6E8A-4147-A177-3AD203B41FA5}">
                      <a16:colId xmlns:a16="http://schemas.microsoft.com/office/drawing/2014/main" val="1417108535"/>
                    </a:ext>
                  </a:extLst>
                </a:gridCol>
                <a:gridCol w="1324987">
                  <a:extLst>
                    <a:ext uri="{9D8B030D-6E8A-4147-A177-3AD203B41FA5}">
                      <a16:colId xmlns:a16="http://schemas.microsoft.com/office/drawing/2014/main" val="643834667"/>
                    </a:ext>
                  </a:extLst>
                </a:gridCol>
                <a:gridCol w="3928053">
                  <a:extLst>
                    <a:ext uri="{9D8B030D-6E8A-4147-A177-3AD203B41FA5}">
                      <a16:colId xmlns:a16="http://schemas.microsoft.com/office/drawing/2014/main" val="4041490089"/>
                    </a:ext>
                  </a:extLst>
                </a:gridCol>
                <a:gridCol w="1378337">
                  <a:extLst>
                    <a:ext uri="{9D8B030D-6E8A-4147-A177-3AD203B41FA5}">
                      <a16:colId xmlns:a16="http://schemas.microsoft.com/office/drawing/2014/main" val="2947654729"/>
                    </a:ext>
                  </a:extLst>
                </a:gridCol>
                <a:gridCol w="1964026">
                  <a:extLst>
                    <a:ext uri="{9D8B030D-6E8A-4147-A177-3AD203B41FA5}">
                      <a16:colId xmlns:a16="http://schemas.microsoft.com/office/drawing/2014/main" val="3949291249"/>
                    </a:ext>
                  </a:extLst>
                </a:gridCol>
              </a:tblGrid>
              <a:tr h="299706">
                <a:tc>
                  <a:txBody>
                    <a:bodyPr/>
                    <a:lstStyle/>
                    <a:p>
                      <a:pPr marL="63500" marR="6350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사업화 제품명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제품용도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품질 및 가격경쟁력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국내외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  <a:p>
                      <a:pPr marL="63500" marR="6350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b="1" kern="0" spc="0" dirty="0" err="1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국가명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판매채널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  <a:p>
                      <a:pPr marL="63500" marR="6350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온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‧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오프라인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672177"/>
                  </a:ext>
                </a:extLst>
              </a:tr>
              <a:tr h="29970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포신청소로봇용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구동모듈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(2016)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포신 청소용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품질이 우수하고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제품 단가가 경쟁기업 대비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10%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낮아 가격경쟁력이 있음</a:t>
                      </a:r>
                      <a:endParaRPr lang="en-US" altLang="ko-KR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국내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한국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직판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오프라인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0181755"/>
                  </a:ext>
                </a:extLst>
              </a:tr>
              <a:tr h="29970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자동문용감속기모터</a:t>
                      </a:r>
                    </a:p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(2017)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자동문용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제품단가가 경쟁기업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SPG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사 대비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10%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낮고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, </a:t>
                      </a:r>
                    </a:p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소음이 타사 품질수준 대비 우수하여 자동문시장의 약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80%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이상을 차지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국내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한국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직판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오프라인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8831669"/>
                  </a:ext>
                </a:extLst>
              </a:tr>
              <a:tr h="29970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V3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온열치료기용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 감속기모터</a:t>
                      </a:r>
                    </a:p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(2017)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온열치료기용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제품단가는 유사하나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소음 및 수명 품질이 우수한 수준으로 평가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국내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한국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직판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오프라인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4301186"/>
                  </a:ext>
                </a:extLst>
              </a:tr>
              <a:tr h="29970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V6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온열치료기용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 감속기모터</a:t>
                      </a:r>
                    </a:p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(2020)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온열치료기용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제품단가는 유사하나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소음 및 수명 품질이 우수한 수준으로 평가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국내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한국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직판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오프라인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8259247"/>
                  </a:ext>
                </a:extLst>
              </a:tr>
              <a:tr h="29970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DOOR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개폐용 감속기모터</a:t>
                      </a:r>
                    </a:p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(2020)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자동차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DOOR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개폐용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제품단가는 유사하나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소음 및 수명 품질이 우수한 수준으로 평가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국내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한국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직판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오프라인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201009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3A0AFED-3D67-4277-9813-7407F7B3A949}"/>
              </a:ext>
            </a:extLst>
          </p:cNvPr>
          <p:cNvSpPr txBox="1"/>
          <p:nvPr/>
        </p:nvSpPr>
        <p:spPr>
          <a:xfrm>
            <a:off x="174814" y="173922"/>
            <a:ext cx="3688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사업화 실적 </a:t>
            </a:r>
            <a:r>
              <a:rPr lang="en-US" altLang="ko-KR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- 2</a:t>
            </a:r>
            <a:r>
              <a:rPr lang="ko-KR" altLang="en-US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세부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8BAE33-19E9-4B86-803C-DD92FD5074A6}"/>
              </a:ext>
            </a:extLst>
          </p:cNvPr>
          <p:cNvSpPr/>
          <p:nvPr/>
        </p:nvSpPr>
        <p:spPr>
          <a:xfrm>
            <a:off x="0" y="6642847"/>
            <a:ext cx="12192000" cy="215140"/>
          </a:xfrm>
          <a:prstGeom prst="rect">
            <a:avLst/>
          </a:prstGeom>
          <a:solidFill>
            <a:srgbClr val="001B36"/>
          </a:solidFill>
          <a:ln>
            <a:solidFill>
              <a:srgbClr val="0000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Picture 3" descr="C:\Users\536\Desktop\dc\Notes\medicalbldcbig.gif">
            <a:extLst>
              <a:ext uri="{FF2B5EF4-FFF2-40B4-BE49-F238E27FC236}">
                <a16:creationId xmlns:a16="http://schemas.microsoft.com/office/drawing/2014/main" id="{3B8D320A-B4A9-444E-9E10-731F5D632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698" y="3519168"/>
            <a:ext cx="1843267" cy="1521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DC76136-74C3-44FF-8A83-E19B64C020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484"/>
          <a:stretch/>
        </p:blipFill>
        <p:spPr>
          <a:xfrm rot="16200000">
            <a:off x="7346886" y="3499031"/>
            <a:ext cx="1152976" cy="154751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7423112-DFDB-4999-89C5-49CB1FCEEA8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9654" t="29962" r="23723" b="1731"/>
          <a:stretch/>
        </p:blipFill>
        <p:spPr>
          <a:xfrm>
            <a:off x="774951" y="3733545"/>
            <a:ext cx="1342804" cy="11588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4DDCEA1-EC94-404F-B3D2-44447E7071FB}"/>
              </a:ext>
            </a:extLst>
          </p:cNvPr>
          <p:cNvSpPr txBox="1"/>
          <p:nvPr/>
        </p:nvSpPr>
        <p:spPr>
          <a:xfrm>
            <a:off x="533004" y="3361643"/>
            <a:ext cx="17391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+mn-cs"/>
              </a:rPr>
              <a:t>포신청소로봇용 구동 모듈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925E31-9BD5-4E51-99BC-8123D1343134}"/>
              </a:ext>
            </a:extLst>
          </p:cNvPr>
          <p:cNvSpPr txBox="1"/>
          <p:nvPr/>
        </p:nvSpPr>
        <p:spPr>
          <a:xfrm>
            <a:off x="2844731" y="3352521"/>
            <a:ext cx="17391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+mn-cs"/>
              </a:rPr>
              <a:t>자동문용 감속기 모터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FCCF1F-9FAF-41FE-8C94-4C7F777038B3}"/>
              </a:ext>
            </a:extLst>
          </p:cNvPr>
          <p:cNvSpPr txBox="1"/>
          <p:nvPr/>
        </p:nvSpPr>
        <p:spPr>
          <a:xfrm>
            <a:off x="5073698" y="3320415"/>
            <a:ext cx="17391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V3</a:t>
            </a:r>
            <a:r>
              <a:rPr lang="ko-KR" altLang="en-US" sz="1000" dirty="0" err="1">
                <a:solidFill>
                  <a:prstClr val="black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온열</a:t>
            </a:r>
            <a:r>
              <a:rPr lang="ko-KR" altLang="en-US" sz="1000" dirty="0">
                <a:solidFill>
                  <a:prstClr val="black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 치료기용 감속기 모터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라운드OTF Bold" panose="020B0600000101010101" pitchFamily="34" charset="-127"/>
              <a:ea typeface="나눔스퀘어라운드OTF Bold" panose="020B0600000101010101" pitchFamily="34" charset="-127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E783EA-9357-4102-9AE6-DC9AC70861A2}"/>
              </a:ext>
            </a:extLst>
          </p:cNvPr>
          <p:cNvSpPr txBox="1"/>
          <p:nvPr/>
        </p:nvSpPr>
        <p:spPr>
          <a:xfrm>
            <a:off x="7028975" y="3324399"/>
            <a:ext cx="17391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V6</a:t>
            </a:r>
            <a:r>
              <a:rPr lang="ko-KR" altLang="en-US" sz="1000" dirty="0" err="1">
                <a:solidFill>
                  <a:prstClr val="black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온열</a:t>
            </a:r>
            <a:r>
              <a:rPr lang="ko-KR" altLang="en-US" sz="1000" dirty="0">
                <a:solidFill>
                  <a:prstClr val="black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 치료기용 감속기 모터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라운드OTF Bold" panose="020B0600000101010101" pitchFamily="34" charset="-127"/>
              <a:ea typeface="나눔스퀘어라운드OTF Bold" panose="020B0600000101010101" pitchFamily="34" charset="-127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1E7879-EE6D-45EE-B217-DE40662EE0BA}"/>
              </a:ext>
            </a:extLst>
          </p:cNvPr>
          <p:cNvSpPr txBox="1"/>
          <p:nvPr/>
        </p:nvSpPr>
        <p:spPr>
          <a:xfrm>
            <a:off x="9530293" y="3349566"/>
            <a:ext cx="17391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prstClr val="black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DOOR</a:t>
            </a:r>
            <a:r>
              <a:rPr lang="ko-KR" altLang="en-US" sz="1000" dirty="0">
                <a:solidFill>
                  <a:prstClr val="black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개폐용 감속기 모터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라운드OTF Bold" panose="020B0600000101010101" pitchFamily="34" charset="-127"/>
              <a:ea typeface="나눔스퀘어라운드OTF Bold" panose="020B0600000101010101" pitchFamily="34" charset="-127"/>
              <a:cs typeface="+mn-cs"/>
            </a:endParaRPr>
          </a:p>
        </p:txBody>
      </p:sp>
      <p:pic>
        <p:nvPicPr>
          <p:cNvPr id="7" name="Picture 17" descr="G:\제품사진_최종\HSG_Autodoor_Motor_PIC\New_PIC\output\DC-1-1.jpg">
            <a:extLst>
              <a:ext uri="{FF2B5EF4-FFF2-40B4-BE49-F238E27FC236}">
                <a16:creationId xmlns:a16="http://schemas.microsoft.com/office/drawing/2014/main" id="{AED9580D-030D-4C81-8061-2A28369A2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33" t="23930" r="12617" b="20901"/>
          <a:stretch>
            <a:fillRect/>
          </a:stretch>
        </p:blipFill>
        <p:spPr bwMode="auto">
          <a:xfrm>
            <a:off x="3041249" y="3856986"/>
            <a:ext cx="1542635" cy="1009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840F0F18-E4E0-4C63-8E90-C98E85E4B5C2}"/>
              </a:ext>
            </a:extLst>
          </p:cNvPr>
          <p:cNvGrpSpPr/>
          <p:nvPr/>
        </p:nvGrpSpPr>
        <p:grpSpPr>
          <a:xfrm>
            <a:off x="2904303" y="5101746"/>
            <a:ext cx="1868066" cy="1435441"/>
            <a:chOff x="2820413" y="5101746"/>
            <a:chExt cx="1868066" cy="1435441"/>
          </a:xfrm>
        </p:grpSpPr>
        <p:sp>
          <p:nvSpPr>
            <p:cNvPr id="20" name="모서리가 둥근 직사각형 2">
              <a:extLst>
                <a:ext uri="{FF2B5EF4-FFF2-40B4-BE49-F238E27FC236}">
                  <a16:creationId xmlns:a16="http://schemas.microsoft.com/office/drawing/2014/main" id="{8FE346D1-E8A5-429B-9AD5-F89A9FD875B9}"/>
                </a:ext>
              </a:extLst>
            </p:cNvPr>
            <p:cNvSpPr/>
            <p:nvPr/>
          </p:nvSpPr>
          <p:spPr>
            <a:xfrm>
              <a:off x="2820413" y="5101746"/>
              <a:ext cx="1868066" cy="1435441"/>
            </a:xfrm>
            <a:prstGeom prst="roundRect">
              <a:avLst>
                <a:gd name="adj" fmla="val 10952"/>
              </a:avLst>
            </a:prstGeom>
            <a:noFill/>
            <a:ln w="31750" cap="flat" cmpd="sng" algn="ctr">
              <a:solidFill>
                <a:srgbClr val="000000">
                  <a:lumMod val="7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굴림"/>
                <a:ea typeface="굴림"/>
                <a:cs typeface="+mn-cs"/>
              </a:endParaRPr>
            </a:p>
          </p:txBody>
        </p:sp>
        <p:pic>
          <p:nvPicPr>
            <p:cNvPr id="21" name="Picture 17">
              <a:extLst>
                <a:ext uri="{FF2B5EF4-FFF2-40B4-BE49-F238E27FC236}">
                  <a16:creationId xmlns:a16="http://schemas.microsoft.com/office/drawing/2014/main" id="{4AC9DE4B-38AF-46E0-9056-31BDA00FF8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2288" y="5217633"/>
              <a:ext cx="1564934" cy="11930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650D85D-055F-4F48-8AB6-61F2422D488C}"/>
              </a:ext>
            </a:extLst>
          </p:cNvPr>
          <p:cNvGrpSpPr/>
          <p:nvPr/>
        </p:nvGrpSpPr>
        <p:grpSpPr>
          <a:xfrm>
            <a:off x="5784004" y="5094157"/>
            <a:ext cx="2302983" cy="1440099"/>
            <a:chOff x="5792393" y="5094157"/>
            <a:chExt cx="2302983" cy="1440099"/>
          </a:xfrm>
        </p:grpSpPr>
        <p:sp>
          <p:nvSpPr>
            <p:cNvPr id="22" name="모서리가 둥근 직사각형 13">
              <a:extLst>
                <a:ext uri="{FF2B5EF4-FFF2-40B4-BE49-F238E27FC236}">
                  <a16:creationId xmlns:a16="http://schemas.microsoft.com/office/drawing/2014/main" id="{545EB9F8-1C92-48B2-B46F-2DF62131AAE7}"/>
                </a:ext>
              </a:extLst>
            </p:cNvPr>
            <p:cNvSpPr/>
            <p:nvPr/>
          </p:nvSpPr>
          <p:spPr>
            <a:xfrm>
              <a:off x="5792393" y="5094157"/>
              <a:ext cx="2302983" cy="1440099"/>
            </a:xfrm>
            <a:prstGeom prst="roundRect">
              <a:avLst>
                <a:gd name="adj" fmla="val 10952"/>
              </a:avLst>
            </a:prstGeom>
            <a:noFill/>
            <a:ln w="31750" cap="flat" cmpd="sng" algn="ctr">
              <a:solidFill>
                <a:srgbClr val="000000">
                  <a:lumMod val="7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굴림"/>
                <a:ea typeface="굴림"/>
                <a:cs typeface="+mn-cs"/>
              </a:endParaRPr>
            </a:p>
          </p:txBody>
        </p:sp>
        <p:pic>
          <p:nvPicPr>
            <p:cNvPr id="23" name="그림 2">
              <a:extLst>
                <a:ext uri="{FF2B5EF4-FFF2-40B4-BE49-F238E27FC236}">
                  <a16:creationId xmlns:a16="http://schemas.microsoft.com/office/drawing/2014/main" id="{28B49705-BE92-4CAF-81D7-A45515815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7014" y="5174813"/>
              <a:ext cx="1830140" cy="1277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" name="Picture 17">
              <a:extLst>
                <a:ext uri="{FF2B5EF4-FFF2-40B4-BE49-F238E27FC236}">
                  <a16:creationId xmlns:a16="http://schemas.microsoft.com/office/drawing/2014/main" id="{E781CF23-1BC7-46EB-A34C-82670C0A0A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7014" y="5159060"/>
              <a:ext cx="1110991" cy="375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5" name="그림 24">
            <a:extLst>
              <a:ext uri="{FF2B5EF4-FFF2-40B4-BE49-F238E27FC236}">
                <a16:creationId xmlns:a16="http://schemas.microsoft.com/office/drawing/2014/main" id="{5D074FF5-54DB-4DDD-BA78-09F83248238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925" t="3386" r="53777" b="1732"/>
          <a:stretch/>
        </p:blipFill>
        <p:spPr>
          <a:xfrm>
            <a:off x="423360" y="4995867"/>
            <a:ext cx="2063988" cy="1521299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BE90DF5-1808-4576-93D4-E468A265303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9888559" y="3534584"/>
            <a:ext cx="1043501" cy="1547518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94A95956-06E8-452B-A83D-86168BA18999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13" t="26552" r="12270" b="22690"/>
          <a:stretch/>
        </p:blipFill>
        <p:spPr>
          <a:xfrm>
            <a:off x="9358721" y="5297535"/>
            <a:ext cx="2103176" cy="1037509"/>
          </a:xfrm>
          <a:prstGeom prst="rect">
            <a:avLst/>
          </a:prstGeom>
        </p:spPr>
      </p:pic>
      <p:sp>
        <p:nvSpPr>
          <p:cNvPr id="29" name="모서리가 둥근 직사각형 13">
            <a:extLst>
              <a:ext uri="{FF2B5EF4-FFF2-40B4-BE49-F238E27FC236}">
                <a16:creationId xmlns:a16="http://schemas.microsoft.com/office/drawing/2014/main" id="{7906C3ED-6681-4663-B9BF-8B8AD02389CD}"/>
              </a:ext>
            </a:extLst>
          </p:cNvPr>
          <p:cNvSpPr/>
          <p:nvPr/>
        </p:nvSpPr>
        <p:spPr>
          <a:xfrm>
            <a:off x="9247235" y="5074836"/>
            <a:ext cx="2302983" cy="1440099"/>
          </a:xfrm>
          <a:prstGeom prst="roundRect">
            <a:avLst>
              <a:gd name="adj" fmla="val 10952"/>
            </a:avLst>
          </a:prstGeom>
          <a:noFill/>
          <a:ln w="31750" cap="flat" cmpd="sng" algn="ctr">
            <a:solidFill>
              <a:srgbClr val="000000">
                <a:lumMod val="7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굴림"/>
              <a:ea typeface="굴림"/>
              <a:cs typeface="+mn-cs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EFE1C61-910C-4EF6-8505-CB9DD1FE1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DC34-FB4C-41F8-BE4F-4E4AB683C1E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530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40AC1E5-A5C5-4CE6-B8AD-C42AAC3A0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204501"/>
              </p:ext>
            </p:extLst>
          </p:nvPr>
        </p:nvGraphicFramePr>
        <p:xfrm>
          <a:off x="712806" y="767718"/>
          <a:ext cx="10766387" cy="2021840"/>
        </p:xfrm>
        <a:graphic>
          <a:graphicData uri="http://schemas.openxmlformats.org/drawingml/2006/table">
            <a:tbl>
              <a:tblPr/>
              <a:tblGrid>
                <a:gridCol w="2170984">
                  <a:extLst>
                    <a:ext uri="{9D8B030D-6E8A-4147-A177-3AD203B41FA5}">
                      <a16:colId xmlns:a16="http://schemas.microsoft.com/office/drawing/2014/main" val="3650333336"/>
                    </a:ext>
                  </a:extLst>
                </a:gridCol>
                <a:gridCol w="1259911">
                  <a:extLst>
                    <a:ext uri="{9D8B030D-6E8A-4147-A177-3AD203B41FA5}">
                      <a16:colId xmlns:a16="http://schemas.microsoft.com/office/drawing/2014/main" val="2556751305"/>
                    </a:ext>
                  </a:extLst>
                </a:gridCol>
                <a:gridCol w="4188359">
                  <a:extLst>
                    <a:ext uri="{9D8B030D-6E8A-4147-A177-3AD203B41FA5}">
                      <a16:colId xmlns:a16="http://schemas.microsoft.com/office/drawing/2014/main" val="673808730"/>
                    </a:ext>
                  </a:extLst>
                </a:gridCol>
                <a:gridCol w="1183107">
                  <a:extLst>
                    <a:ext uri="{9D8B030D-6E8A-4147-A177-3AD203B41FA5}">
                      <a16:colId xmlns:a16="http://schemas.microsoft.com/office/drawing/2014/main" val="164684249"/>
                    </a:ext>
                  </a:extLst>
                </a:gridCol>
                <a:gridCol w="1964026">
                  <a:extLst>
                    <a:ext uri="{9D8B030D-6E8A-4147-A177-3AD203B41FA5}">
                      <a16:colId xmlns:a16="http://schemas.microsoft.com/office/drawing/2014/main" val="4043495619"/>
                    </a:ext>
                  </a:extLst>
                </a:gridCol>
              </a:tblGrid>
              <a:tr h="79006">
                <a:tc>
                  <a:txBody>
                    <a:bodyPr/>
                    <a:lstStyle/>
                    <a:p>
                      <a:pPr marL="63500" marR="6350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사업화 제품명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제품용도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품질 및 가격경쟁력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국내외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  <a:p>
                      <a:pPr marL="63500" marR="6350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국가명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판매채널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  <a:p>
                      <a:pPr marL="63500" marR="6350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온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‧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오프라인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715972"/>
                  </a:ext>
                </a:extLst>
              </a:tr>
              <a:tr h="7900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단상 모터용</a:t>
                      </a:r>
                      <a:endParaRPr lang="en-US" altLang="ko-KR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스피드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콘트롤러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자동화용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경쟁제품 기능 우수로 고객 만족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국외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도입품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 동등 수준</a:t>
                      </a:r>
                      <a:endParaRPr lang="en-US" altLang="ko-KR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  <a:p>
                      <a:pPr marL="63500" marR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공급가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: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도입품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 대비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60%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수준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 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국내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한국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모터 협력 업체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오프라인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 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0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전기 조향용</a:t>
                      </a:r>
                      <a:endParaRPr lang="en-US" altLang="ko-KR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BLDC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드라이버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선박용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경쟁제품 대비 출력 밀도  및 내구 신뢰성  우수로 고객 만족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공급가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경쟁사 대비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70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수준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국내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한국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모터 협력 업체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오프라인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 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0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2kW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급 </a:t>
                      </a: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BLDC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드라이버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농기계 및</a:t>
                      </a:r>
                      <a:endParaRPr lang="en-US" altLang="ko-KR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유틸리티 차량용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경쟁제품 대비 경사도 등판 능력 및 회생 기능 우위로 고객 만족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공급가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경쟁사 대비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80~90%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수준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국내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한국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모터 협력 업체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오프라인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 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213913"/>
                  </a:ext>
                </a:extLst>
              </a:tr>
              <a:tr h="7900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조향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,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리프트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,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주행용 </a:t>
                      </a:r>
                    </a:p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BLDC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드라이버 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주차로봇용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국외 도입품 대비 동등수준의 성능과 품질</a:t>
                      </a:r>
                    </a:p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공급가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: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국외 도입품 대비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50% 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국내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한국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직판</a:t>
                      </a:r>
                    </a:p>
                    <a:p>
                      <a:pPr marL="6350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오프라인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206538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AB62E15-9B5F-4F33-A575-482E5E80C3A2}"/>
              </a:ext>
            </a:extLst>
          </p:cNvPr>
          <p:cNvSpPr txBox="1"/>
          <p:nvPr/>
        </p:nvSpPr>
        <p:spPr>
          <a:xfrm>
            <a:off x="174814" y="173922"/>
            <a:ext cx="3688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사업화 실적 </a:t>
            </a:r>
            <a:r>
              <a:rPr lang="en-US" altLang="ko-KR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– 3</a:t>
            </a:r>
            <a:r>
              <a:rPr lang="ko-KR" altLang="en-US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세부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067" y="5033819"/>
            <a:ext cx="1967330" cy="1205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066" y="4220452"/>
            <a:ext cx="702728" cy="71011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327" y="4351790"/>
            <a:ext cx="1021468" cy="58536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205" y="5033818"/>
            <a:ext cx="1932702" cy="1205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833234" y="3779801"/>
            <a:ext cx="1160995" cy="272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 latinLnBrk="0">
              <a:lnSpc>
                <a:spcPct val="125000"/>
              </a:lnSpc>
            </a:pPr>
            <a:r>
              <a:rPr lang="ko-KR" altLang="en-US" sz="1000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자동화장비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3286846" y="3778364"/>
            <a:ext cx="1559419" cy="272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 latinLnBrk="0">
              <a:lnSpc>
                <a:spcPct val="125000"/>
              </a:lnSpc>
            </a:pPr>
            <a:r>
              <a:rPr lang="ko-KR" altLang="en-US" sz="1000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선박용</a:t>
            </a:r>
            <a:r>
              <a:rPr lang="en-US" altLang="ko-KR" sz="1000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 </a:t>
            </a:r>
            <a:r>
              <a:rPr lang="ko-KR" altLang="en-US" sz="1000" kern="0" dirty="0" err="1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조향장치</a:t>
            </a:r>
            <a:endParaRPr lang="ko-KR" altLang="en-US" sz="1000" kern="0" dirty="0">
              <a:solidFill>
                <a:srgbClr val="000000"/>
              </a:solidFill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2737" y="4839945"/>
            <a:ext cx="1971838" cy="136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6557" y="4220452"/>
            <a:ext cx="1044872" cy="81336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205" y="4295146"/>
            <a:ext cx="966351" cy="64200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직사각형 17"/>
          <p:cNvSpPr/>
          <p:nvPr/>
        </p:nvSpPr>
        <p:spPr>
          <a:xfrm>
            <a:off x="5790636" y="3778363"/>
            <a:ext cx="1939497" cy="272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 latinLnBrk="0">
              <a:lnSpc>
                <a:spcPct val="125000"/>
              </a:lnSpc>
            </a:pPr>
            <a:r>
              <a:rPr lang="ko-KR" altLang="en-US" sz="1000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유틸리티 차량</a:t>
            </a:r>
            <a:r>
              <a:rPr lang="en-US" altLang="ko-KR" sz="1000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 </a:t>
            </a:r>
            <a:r>
              <a:rPr lang="ko-KR" altLang="en-US" sz="1000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주행용</a:t>
            </a:r>
          </a:p>
        </p:txBody>
      </p:sp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6858" y="5126182"/>
            <a:ext cx="2169004" cy="1080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0374" y="4220453"/>
            <a:ext cx="1336616" cy="7637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6858" y="4468505"/>
            <a:ext cx="884103" cy="51572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직사각형 22"/>
          <p:cNvSpPr/>
          <p:nvPr/>
        </p:nvSpPr>
        <p:spPr>
          <a:xfrm>
            <a:off x="9397963" y="3786134"/>
            <a:ext cx="906794" cy="272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 latinLnBrk="0">
              <a:lnSpc>
                <a:spcPct val="125000"/>
              </a:lnSpc>
            </a:pPr>
            <a:r>
              <a:rPr lang="ko-KR" altLang="en-US" sz="1000" kern="0" dirty="0">
                <a:solidFill>
                  <a:srgbClr val="000000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주차로봇용</a:t>
            </a:r>
          </a:p>
        </p:txBody>
      </p:sp>
      <p:pic>
        <p:nvPicPr>
          <p:cNvPr id="4110" name="Picture 14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169316" y="4073561"/>
            <a:ext cx="847089" cy="88009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AAF5026E-2F60-4EC8-8133-60DDA1B84B64}"/>
              </a:ext>
            </a:extLst>
          </p:cNvPr>
          <p:cNvSpPr/>
          <p:nvPr/>
        </p:nvSpPr>
        <p:spPr>
          <a:xfrm>
            <a:off x="0" y="6642847"/>
            <a:ext cx="12192000" cy="215140"/>
          </a:xfrm>
          <a:prstGeom prst="rect">
            <a:avLst/>
          </a:prstGeom>
          <a:solidFill>
            <a:srgbClr val="001B36"/>
          </a:solidFill>
          <a:ln>
            <a:solidFill>
              <a:srgbClr val="0000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90B484-7A98-4D05-B160-07474EE07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DC34-FB4C-41F8-BE4F-4E4AB683C1E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347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그룹 64">
            <a:extLst>
              <a:ext uri="{FF2B5EF4-FFF2-40B4-BE49-F238E27FC236}">
                <a16:creationId xmlns:a16="http://schemas.microsoft.com/office/drawing/2014/main" id="{53418E20-BC91-4D8E-8A10-24242325B5B7}"/>
              </a:ext>
            </a:extLst>
          </p:cNvPr>
          <p:cNvGrpSpPr/>
          <p:nvPr/>
        </p:nvGrpSpPr>
        <p:grpSpPr>
          <a:xfrm>
            <a:off x="2304989" y="710338"/>
            <a:ext cx="7840091" cy="3586536"/>
            <a:chOff x="2048980" y="104331"/>
            <a:chExt cx="7840091" cy="358653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1345302-FDD9-45DA-8CAD-09DB47F68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26343" y="750807"/>
              <a:ext cx="1522439" cy="980451"/>
            </a:xfrm>
            <a:prstGeom prst="ellipse">
              <a:avLst/>
            </a:prstGeom>
            <a:ln w="63500" cap="rnd">
              <a:solidFill>
                <a:srgbClr val="001B36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25EA8270-C2D1-4987-8E20-80FE4B1949FC}"/>
                </a:ext>
              </a:extLst>
            </p:cNvPr>
            <p:cNvGrpSpPr/>
            <p:nvPr/>
          </p:nvGrpSpPr>
          <p:grpSpPr>
            <a:xfrm>
              <a:off x="2107529" y="1987125"/>
              <a:ext cx="7781542" cy="1464673"/>
              <a:chOff x="2107529" y="1987125"/>
              <a:chExt cx="7781542" cy="1464673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0EB93E0B-C2A1-4270-8128-B1EC0856ACFF}"/>
                  </a:ext>
                </a:extLst>
              </p:cNvPr>
              <p:cNvGrpSpPr/>
              <p:nvPr/>
            </p:nvGrpSpPr>
            <p:grpSpPr>
              <a:xfrm>
                <a:off x="2107529" y="2306305"/>
                <a:ext cx="7781542" cy="1145493"/>
                <a:chOff x="2107529" y="2306305"/>
                <a:chExt cx="7781542" cy="1145493"/>
              </a:xfrm>
            </p:grpSpPr>
            <p:pic>
              <p:nvPicPr>
                <p:cNvPr id="7" name="그림 6">
                  <a:extLst>
                    <a:ext uri="{FF2B5EF4-FFF2-40B4-BE49-F238E27FC236}">
                      <a16:creationId xmlns:a16="http://schemas.microsoft.com/office/drawing/2014/main" id="{215ED946-0007-4792-AA17-64D1F09008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66078" y="2310788"/>
                  <a:ext cx="720000" cy="517091"/>
                </a:xfrm>
                <a:prstGeom prst="ellipse">
                  <a:avLst/>
                </a:prstGeom>
                <a:ln w="63500" cap="rnd">
                  <a:solidFill>
                    <a:srgbClr val="001B36"/>
                  </a:solidFill>
                </a:ln>
                <a:effectLst>
                  <a:outerShdw blurRad="381000" dist="292100" dir="5400000" sx="-80000" sy="-18000" rotWithShape="0">
                    <a:srgbClr val="000000">
                      <a:alpha val="22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3000000"/>
                  </a:lightRig>
                </a:scene3d>
                <a:sp3d contourW="7620">
                  <a:bevelT w="95250" h="31750"/>
                  <a:contourClr>
                    <a:srgbClr val="333333"/>
                  </a:contourClr>
                </a:sp3d>
              </p:spPr>
            </p:pic>
            <p:pic>
              <p:nvPicPr>
                <p:cNvPr id="24" name="그림 23">
                  <a:extLst>
                    <a:ext uri="{FF2B5EF4-FFF2-40B4-BE49-F238E27FC236}">
                      <a16:creationId xmlns:a16="http://schemas.microsoft.com/office/drawing/2014/main" id="{4D01B533-69A0-45E1-8ACD-0C4BDB4692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421134" y="2306305"/>
                  <a:ext cx="720000" cy="517091"/>
                </a:xfrm>
                <a:prstGeom prst="ellipse">
                  <a:avLst/>
                </a:prstGeom>
                <a:ln w="63500" cap="rnd">
                  <a:solidFill>
                    <a:srgbClr val="001B36"/>
                  </a:solidFill>
                </a:ln>
                <a:effectLst>
                  <a:outerShdw blurRad="381000" dist="292100" dir="5400000" sx="-80000" sy="-18000" rotWithShape="0">
                    <a:srgbClr val="000000">
                      <a:alpha val="22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3000000"/>
                  </a:lightRig>
                </a:scene3d>
                <a:sp3d contourW="7620">
                  <a:bevelT w="95250" h="31750"/>
                  <a:contourClr>
                    <a:srgbClr val="333333"/>
                  </a:contourClr>
                </a:sp3d>
              </p:spPr>
            </p:pic>
            <p:pic>
              <p:nvPicPr>
                <p:cNvPr id="25" name="그림 24">
                  <a:extLst>
                    <a:ext uri="{FF2B5EF4-FFF2-40B4-BE49-F238E27FC236}">
                      <a16:creationId xmlns:a16="http://schemas.microsoft.com/office/drawing/2014/main" id="{D561EFEB-62DD-4312-A650-FBB87031BC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676190" y="2310788"/>
                  <a:ext cx="720000" cy="517091"/>
                </a:xfrm>
                <a:prstGeom prst="ellipse">
                  <a:avLst/>
                </a:prstGeom>
                <a:ln w="63500" cap="rnd">
                  <a:solidFill>
                    <a:srgbClr val="001B36"/>
                  </a:solidFill>
                </a:ln>
                <a:effectLst>
                  <a:outerShdw blurRad="381000" dist="292100" dir="5400000" sx="-80000" sy="-18000" rotWithShape="0">
                    <a:srgbClr val="000000">
                      <a:alpha val="22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3000000"/>
                  </a:lightRig>
                </a:scene3d>
                <a:sp3d contourW="7620">
                  <a:bevelT w="95250" h="31750"/>
                  <a:contourClr>
                    <a:srgbClr val="333333"/>
                  </a:contourClr>
                </a:sp3d>
              </p:spPr>
            </p:pic>
            <p:pic>
              <p:nvPicPr>
                <p:cNvPr id="26" name="그림 25">
                  <a:extLst>
                    <a:ext uri="{FF2B5EF4-FFF2-40B4-BE49-F238E27FC236}">
                      <a16:creationId xmlns:a16="http://schemas.microsoft.com/office/drawing/2014/main" id="{E48D87B9-29F1-4363-80A5-F5F8A4BFD7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75812" y="2310788"/>
                  <a:ext cx="720000" cy="517091"/>
                </a:xfrm>
                <a:prstGeom prst="ellipse">
                  <a:avLst/>
                </a:prstGeom>
                <a:ln w="63500" cap="rnd">
                  <a:solidFill>
                    <a:srgbClr val="001B36"/>
                  </a:solidFill>
                </a:ln>
                <a:effectLst>
                  <a:outerShdw blurRad="381000" dist="292100" dir="5400000" sx="-80000" sy="-18000" rotWithShape="0">
                    <a:srgbClr val="000000">
                      <a:alpha val="22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3000000"/>
                  </a:lightRig>
                </a:scene3d>
                <a:sp3d contourW="7620">
                  <a:bevelT w="95250" h="31750"/>
                  <a:contourClr>
                    <a:srgbClr val="333333"/>
                  </a:contourClr>
                </a:sp3d>
              </p:spPr>
            </p:pic>
            <p:pic>
              <p:nvPicPr>
                <p:cNvPr id="27" name="그림 26">
                  <a:extLst>
                    <a:ext uri="{FF2B5EF4-FFF2-40B4-BE49-F238E27FC236}">
                      <a16:creationId xmlns:a16="http://schemas.microsoft.com/office/drawing/2014/main" id="{7427FDE1-66F4-4848-9BBB-C9D3C24417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75434" y="2306305"/>
                  <a:ext cx="720000" cy="517091"/>
                </a:xfrm>
                <a:prstGeom prst="ellipse">
                  <a:avLst/>
                </a:prstGeom>
                <a:ln w="63500" cap="rnd">
                  <a:solidFill>
                    <a:srgbClr val="001B36"/>
                  </a:solidFill>
                </a:ln>
                <a:effectLst>
                  <a:outerShdw blurRad="381000" dist="292100" dir="5400000" sx="-80000" sy="-18000" rotWithShape="0">
                    <a:srgbClr val="000000">
                      <a:alpha val="22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3000000"/>
                  </a:lightRig>
                </a:scene3d>
                <a:sp3d contourW="7620">
                  <a:bevelT w="95250" h="31750"/>
                  <a:contourClr>
                    <a:srgbClr val="333333"/>
                  </a:contourClr>
                </a:sp3d>
              </p:spPr>
            </p:pic>
            <p:pic>
              <p:nvPicPr>
                <p:cNvPr id="28" name="그림 27">
                  <a:extLst>
                    <a:ext uri="{FF2B5EF4-FFF2-40B4-BE49-F238E27FC236}">
                      <a16:creationId xmlns:a16="http://schemas.microsoft.com/office/drawing/2014/main" id="{F84082E2-7C6A-485B-865C-18EF4BC61D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875056" y="2306305"/>
                  <a:ext cx="720000" cy="517091"/>
                </a:xfrm>
                <a:prstGeom prst="ellipse">
                  <a:avLst/>
                </a:prstGeom>
                <a:ln w="63500" cap="rnd">
                  <a:solidFill>
                    <a:srgbClr val="001B36"/>
                  </a:solidFill>
                </a:ln>
                <a:effectLst>
                  <a:outerShdw blurRad="381000" dist="292100" dir="5400000" sx="-80000" sy="-18000" rotWithShape="0">
                    <a:srgbClr val="000000">
                      <a:alpha val="22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3000000"/>
                  </a:lightRig>
                </a:scene3d>
                <a:sp3d contourW="7620">
                  <a:bevelT w="95250" h="31750"/>
                  <a:contourClr>
                    <a:srgbClr val="333333"/>
                  </a:contourClr>
                </a:sp3d>
              </p:spPr>
            </p:pic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98C5AFB-F704-464B-B5B3-44E39E507151}"/>
                    </a:ext>
                  </a:extLst>
                </p:cNvPr>
                <p:cNvSpPr txBox="1"/>
                <p:nvPr/>
              </p:nvSpPr>
              <p:spPr>
                <a:xfrm>
                  <a:off x="2107529" y="2823396"/>
                  <a:ext cx="83709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dirty="0">
                      <a:solidFill>
                        <a:srgbClr val="001B36"/>
                      </a:solidFill>
                      <a:latin typeface="나눔스퀘어라운드OTF ExtraBold" panose="020B0600000101010101" pitchFamily="34" charset="-127"/>
                      <a:ea typeface="나눔스퀘어라운드OTF ExtraBold" panose="020B0600000101010101" pitchFamily="34" charset="-127"/>
                    </a:rPr>
                    <a:t>승객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988E3B9-47ED-4CEA-B0B1-39961BC710A1}"/>
                    </a:ext>
                  </a:extLst>
                </p:cNvPr>
                <p:cNvSpPr txBox="1"/>
                <p:nvPr/>
              </p:nvSpPr>
              <p:spPr>
                <a:xfrm>
                  <a:off x="3357267" y="2823396"/>
                  <a:ext cx="83709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dirty="0">
                      <a:solidFill>
                        <a:srgbClr val="001B36"/>
                      </a:solidFill>
                      <a:latin typeface="나눔스퀘어라운드OTF ExtraBold" panose="020B0600000101010101" pitchFamily="34" charset="-127"/>
                      <a:ea typeface="나눔스퀘어라운드OTF ExtraBold" panose="020B0600000101010101" pitchFamily="34" charset="-127"/>
                    </a:rPr>
                    <a:t>수하물</a:t>
                  </a: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42BCF3C-B40D-4658-BEE1-6AA03970597B}"/>
                    </a:ext>
                  </a:extLst>
                </p:cNvPr>
                <p:cNvSpPr txBox="1"/>
                <p:nvPr/>
              </p:nvSpPr>
              <p:spPr>
                <a:xfrm>
                  <a:off x="4382175" y="2818914"/>
                  <a:ext cx="13080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dirty="0">
                      <a:solidFill>
                        <a:srgbClr val="001B36"/>
                      </a:solidFill>
                      <a:latin typeface="나눔스퀘어라운드OTF ExtraBold" panose="020B0600000101010101" pitchFamily="34" charset="-127"/>
                      <a:ea typeface="나눔스퀘어라운드OTF ExtraBold" panose="020B0600000101010101" pitchFamily="34" charset="-127"/>
                    </a:rPr>
                    <a:t>엔진시스템</a:t>
                  </a: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6F3A351-BD5E-4DB0-9B41-8B6876ADCBBD}"/>
                    </a:ext>
                  </a:extLst>
                </p:cNvPr>
                <p:cNvSpPr txBox="1"/>
                <p:nvPr/>
              </p:nvSpPr>
              <p:spPr>
                <a:xfrm>
                  <a:off x="5781797" y="2818914"/>
                  <a:ext cx="13080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>
                      <a:solidFill>
                        <a:srgbClr val="001B36"/>
                      </a:solidFill>
                      <a:latin typeface="나눔스퀘어라운드OTF ExtraBold" panose="020B0600000101010101" pitchFamily="34" charset="-127"/>
                      <a:ea typeface="나눔스퀘어라운드OTF ExtraBold" panose="020B0600000101010101" pitchFamily="34" charset="-127"/>
                    </a:rPr>
                    <a:t>배터리</a:t>
                  </a:r>
                  <a:endParaRPr lang="ko-KR" altLang="en-US" dirty="0">
                    <a:solidFill>
                      <a:srgbClr val="001B36"/>
                    </a:solidFill>
                    <a:latin typeface="나눔스퀘어라운드OTF ExtraBold" panose="020B0600000101010101" pitchFamily="34" charset="-127"/>
                    <a:ea typeface="나눔스퀘어라운드OTF ExtraBold" panose="020B0600000101010101" pitchFamily="34" charset="-127"/>
                  </a:endParaRP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23ED25E-796B-4210-9BB7-E27B71126F51}"/>
                    </a:ext>
                  </a:extLst>
                </p:cNvPr>
                <p:cNvSpPr txBox="1"/>
                <p:nvPr/>
              </p:nvSpPr>
              <p:spPr>
                <a:xfrm>
                  <a:off x="7181419" y="2805467"/>
                  <a:ext cx="130803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dirty="0">
                      <a:solidFill>
                        <a:srgbClr val="001B36"/>
                      </a:solidFill>
                      <a:latin typeface="나눔스퀘어라운드OTF ExtraBold" panose="020B0600000101010101" pitchFamily="34" charset="-127"/>
                      <a:ea typeface="나눔스퀘어라운드OTF ExtraBold" panose="020B0600000101010101" pitchFamily="34" charset="-127"/>
                    </a:rPr>
                    <a:t>모터</a:t>
                  </a:r>
                  <a:r>
                    <a:rPr lang="en-US" altLang="ko-KR" dirty="0">
                      <a:solidFill>
                        <a:srgbClr val="001B36"/>
                      </a:solidFill>
                      <a:latin typeface="나눔스퀘어라운드OTF ExtraBold" panose="020B0600000101010101" pitchFamily="34" charset="-127"/>
                      <a:ea typeface="나눔스퀘어라운드OTF ExtraBold" panose="020B0600000101010101" pitchFamily="34" charset="-127"/>
                    </a:rPr>
                    <a:t>, </a:t>
                  </a:r>
                </a:p>
                <a:p>
                  <a:pPr algn="ctr"/>
                  <a:r>
                    <a:rPr lang="ko-KR" altLang="en-US" dirty="0">
                      <a:solidFill>
                        <a:srgbClr val="001B36"/>
                      </a:solidFill>
                      <a:latin typeface="나눔스퀘어라운드OTF ExtraBold" panose="020B0600000101010101" pitchFamily="34" charset="-127"/>
                      <a:ea typeface="나눔스퀘어라운드OTF ExtraBold" panose="020B0600000101010101" pitchFamily="34" charset="-127"/>
                    </a:rPr>
                    <a:t>인버터 세트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A118C3D-203C-40B6-BD69-83B92A9364D4}"/>
                    </a:ext>
                  </a:extLst>
                </p:cNvPr>
                <p:cNvSpPr txBox="1"/>
                <p:nvPr/>
              </p:nvSpPr>
              <p:spPr>
                <a:xfrm>
                  <a:off x="8581041" y="2787151"/>
                  <a:ext cx="130803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dirty="0" err="1">
                      <a:solidFill>
                        <a:srgbClr val="001B36"/>
                      </a:solidFill>
                      <a:latin typeface="나눔스퀘어라운드OTF ExtraBold" panose="020B0600000101010101" pitchFamily="34" charset="-127"/>
                      <a:ea typeface="나눔스퀘어라운드OTF ExtraBold" panose="020B0600000101010101" pitchFamily="34" charset="-127"/>
                    </a:rPr>
                    <a:t>하네스</a:t>
                  </a:r>
                  <a:r>
                    <a:rPr lang="en-US" altLang="ko-KR" dirty="0">
                      <a:solidFill>
                        <a:srgbClr val="001B36"/>
                      </a:solidFill>
                      <a:latin typeface="나눔스퀘어라운드OTF ExtraBold" panose="020B0600000101010101" pitchFamily="34" charset="-127"/>
                      <a:ea typeface="나눔스퀘어라운드OTF ExtraBold" panose="020B0600000101010101" pitchFamily="34" charset="-127"/>
                    </a:rPr>
                    <a:t>, </a:t>
                  </a:r>
                </a:p>
                <a:p>
                  <a:pPr algn="ctr"/>
                  <a:r>
                    <a:rPr lang="ko-KR" altLang="en-US" dirty="0">
                      <a:solidFill>
                        <a:srgbClr val="001B36"/>
                      </a:solidFill>
                      <a:latin typeface="나눔스퀘어라운드OTF ExtraBold" panose="020B0600000101010101" pitchFamily="34" charset="-127"/>
                      <a:ea typeface="나눔스퀘어라운드OTF ExtraBold" panose="020B0600000101010101" pitchFamily="34" charset="-127"/>
                    </a:rPr>
                    <a:t>날개</a:t>
                  </a:r>
                  <a:r>
                    <a:rPr lang="en-US" altLang="ko-KR" dirty="0">
                      <a:solidFill>
                        <a:srgbClr val="001B36"/>
                      </a:solidFill>
                      <a:latin typeface="나눔스퀘어라운드OTF ExtraBold" panose="020B0600000101010101" pitchFamily="34" charset="-127"/>
                      <a:ea typeface="나눔스퀘어라운드OTF ExtraBold" panose="020B0600000101010101" pitchFamily="34" charset="-127"/>
                    </a:rPr>
                    <a:t>, </a:t>
                  </a:r>
                  <a:r>
                    <a:rPr lang="ko-KR" altLang="en-US" dirty="0">
                      <a:solidFill>
                        <a:srgbClr val="001B36"/>
                      </a:solidFill>
                      <a:latin typeface="나눔스퀘어라운드OTF ExtraBold" panose="020B0600000101010101" pitchFamily="34" charset="-127"/>
                      <a:ea typeface="나눔스퀘어라운드OTF ExtraBold" panose="020B0600000101010101" pitchFamily="34" charset="-127"/>
                    </a:rPr>
                    <a:t>축 등</a:t>
                  </a:r>
                </a:p>
              </p:txBody>
            </p:sp>
          </p:grp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E1C1D90A-5282-4783-A858-76E954F565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526078" y="2007416"/>
                <a:ext cx="6996" cy="284764"/>
              </a:xfrm>
              <a:prstGeom prst="line">
                <a:avLst/>
              </a:prstGeom>
              <a:ln w="57150">
                <a:solidFill>
                  <a:srgbClr val="001B3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8203BEDD-F2A2-4A2B-9C8A-2E313B1870CB}"/>
                  </a:ext>
                </a:extLst>
              </p:cNvPr>
              <p:cNvCxnSpPr/>
              <p:nvPr/>
            </p:nvCxnSpPr>
            <p:spPr>
              <a:xfrm flipH="1" flipV="1">
                <a:off x="3768820" y="2007416"/>
                <a:ext cx="6996" cy="284764"/>
              </a:xfrm>
              <a:prstGeom prst="line">
                <a:avLst/>
              </a:prstGeom>
              <a:ln w="57150">
                <a:solidFill>
                  <a:srgbClr val="001B3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2363698E-54A6-4110-8FD2-1405986CDBCF}"/>
                  </a:ext>
                </a:extLst>
              </p:cNvPr>
              <p:cNvCxnSpPr/>
              <p:nvPr/>
            </p:nvCxnSpPr>
            <p:spPr>
              <a:xfrm flipH="1" flipV="1">
                <a:off x="5036190" y="2007416"/>
                <a:ext cx="6996" cy="284764"/>
              </a:xfrm>
              <a:prstGeom prst="line">
                <a:avLst/>
              </a:prstGeom>
              <a:ln w="57150">
                <a:solidFill>
                  <a:srgbClr val="001B3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>
                <a:extLst>
                  <a:ext uri="{FF2B5EF4-FFF2-40B4-BE49-F238E27FC236}">
                    <a16:creationId xmlns:a16="http://schemas.microsoft.com/office/drawing/2014/main" id="{79EAD37A-8BD9-45A7-A963-EA19035701AB}"/>
                  </a:ext>
                </a:extLst>
              </p:cNvPr>
              <p:cNvCxnSpPr/>
              <p:nvPr/>
            </p:nvCxnSpPr>
            <p:spPr>
              <a:xfrm flipH="1" flipV="1">
                <a:off x="6432314" y="2007898"/>
                <a:ext cx="6996" cy="284764"/>
              </a:xfrm>
              <a:prstGeom prst="line">
                <a:avLst/>
              </a:prstGeom>
              <a:ln w="57150">
                <a:solidFill>
                  <a:srgbClr val="001B3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연결선 43">
                <a:extLst>
                  <a:ext uri="{FF2B5EF4-FFF2-40B4-BE49-F238E27FC236}">
                    <a16:creationId xmlns:a16="http://schemas.microsoft.com/office/drawing/2014/main" id="{A2FEB39A-AFB5-4C41-9FBC-F33662B32178}"/>
                  </a:ext>
                </a:extLst>
              </p:cNvPr>
              <p:cNvCxnSpPr/>
              <p:nvPr/>
            </p:nvCxnSpPr>
            <p:spPr>
              <a:xfrm flipH="1" flipV="1">
                <a:off x="7835434" y="2007416"/>
                <a:ext cx="6996" cy="284764"/>
              </a:xfrm>
              <a:prstGeom prst="line">
                <a:avLst/>
              </a:prstGeom>
              <a:ln w="57150">
                <a:solidFill>
                  <a:srgbClr val="001B3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>
                <a:extLst>
                  <a:ext uri="{FF2B5EF4-FFF2-40B4-BE49-F238E27FC236}">
                    <a16:creationId xmlns:a16="http://schemas.microsoft.com/office/drawing/2014/main" id="{26A9C6D4-BB64-4851-9624-0D4A44A3B4DF}"/>
                  </a:ext>
                </a:extLst>
              </p:cNvPr>
              <p:cNvCxnSpPr/>
              <p:nvPr/>
            </p:nvCxnSpPr>
            <p:spPr>
              <a:xfrm flipH="1" flipV="1">
                <a:off x="9228060" y="2007416"/>
                <a:ext cx="6996" cy="284764"/>
              </a:xfrm>
              <a:prstGeom prst="line">
                <a:avLst/>
              </a:prstGeom>
              <a:ln w="57150">
                <a:solidFill>
                  <a:srgbClr val="001B3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>
                <a:extLst>
                  <a:ext uri="{FF2B5EF4-FFF2-40B4-BE49-F238E27FC236}">
                    <a16:creationId xmlns:a16="http://schemas.microsoft.com/office/drawing/2014/main" id="{982DE54E-06C3-40CF-85F2-3081F82540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7010" y="1987125"/>
                <a:ext cx="6738046" cy="35536"/>
              </a:xfrm>
              <a:prstGeom prst="line">
                <a:avLst/>
              </a:prstGeom>
              <a:ln w="57150">
                <a:solidFill>
                  <a:srgbClr val="001B3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A3070B86-41D6-4F96-B04B-BB1D6ED781D3}"/>
                </a:ext>
              </a:extLst>
            </p:cNvPr>
            <p:cNvCxnSpPr/>
            <p:nvPr/>
          </p:nvCxnSpPr>
          <p:spPr>
            <a:xfrm flipH="1" flipV="1">
              <a:off x="5880567" y="1720129"/>
              <a:ext cx="6996" cy="284764"/>
            </a:xfrm>
            <a:prstGeom prst="line">
              <a:avLst/>
            </a:prstGeom>
            <a:ln w="57150">
              <a:solidFill>
                <a:srgbClr val="001B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4ED31C6-F14E-4FD3-9427-92DAE13BF5FE}"/>
                </a:ext>
              </a:extLst>
            </p:cNvPr>
            <p:cNvSpPr txBox="1"/>
            <p:nvPr/>
          </p:nvSpPr>
          <p:spPr>
            <a:xfrm>
              <a:off x="5447484" y="360198"/>
              <a:ext cx="8370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rgbClr val="001B36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</a:rPr>
                <a:t>비행체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7C48D34-2F34-4F46-B261-A83990DF71DB}"/>
                </a:ext>
              </a:extLst>
            </p:cNvPr>
            <p:cNvSpPr txBox="1"/>
            <p:nvPr/>
          </p:nvSpPr>
          <p:spPr>
            <a:xfrm>
              <a:off x="2048980" y="3367702"/>
              <a:ext cx="83709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500" dirty="0">
                  <a:solidFill>
                    <a:srgbClr val="001B36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</a:rPr>
                <a:t>70kg</a:t>
              </a:r>
              <a:endParaRPr lang="ko-KR" altLang="en-US" sz="1500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D77CF5C-A9A4-4DCD-A1BE-4DC2874C6424}"/>
                </a:ext>
              </a:extLst>
            </p:cNvPr>
            <p:cNvSpPr txBox="1"/>
            <p:nvPr/>
          </p:nvSpPr>
          <p:spPr>
            <a:xfrm>
              <a:off x="3320790" y="3367702"/>
              <a:ext cx="83709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500" dirty="0">
                  <a:solidFill>
                    <a:srgbClr val="001B36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</a:rPr>
                <a:t>30kg</a:t>
              </a:r>
              <a:endParaRPr lang="ko-KR" altLang="en-US" sz="1500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8261437-9764-485D-A061-1C4E4B98A7D8}"/>
                </a:ext>
              </a:extLst>
            </p:cNvPr>
            <p:cNvSpPr txBox="1"/>
            <p:nvPr/>
          </p:nvSpPr>
          <p:spPr>
            <a:xfrm>
              <a:off x="4678313" y="3367702"/>
              <a:ext cx="83709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500" dirty="0">
                  <a:solidFill>
                    <a:srgbClr val="001B36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</a:rPr>
                <a:t>160kg</a:t>
              </a:r>
              <a:endParaRPr lang="ko-KR" altLang="en-US" sz="1500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BA4A86C-CCAB-4C33-A94F-6ED8EB9A7400}"/>
                </a:ext>
              </a:extLst>
            </p:cNvPr>
            <p:cNvSpPr txBox="1"/>
            <p:nvPr/>
          </p:nvSpPr>
          <p:spPr>
            <a:xfrm>
              <a:off x="5984284" y="3367702"/>
              <a:ext cx="83709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500" dirty="0">
                  <a:solidFill>
                    <a:srgbClr val="001B36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</a:rPr>
                <a:t>40kg</a:t>
              </a:r>
              <a:endParaRPr lang="ko-KR" altLang="en-US" sz="1500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DB56C5E-53B8-40F3-BCC0-A1E844467285}"/>
                </a:ext>
              </a:extLst>
            </p:cNvPr>
            <p:cNvSpPr txBox="1"/>
            <p:nvPr/>
          </p:nvSpPr>
          <p:spPr>
            <a:xfrm>
              <a:off x="7387404" y="3367702"/>
              <a:ext cx="83709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500" dirty="0">
                  <a:solidFill>
                    <a:srgbClr val="001B36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</a:rPr>
                <a:t>60kg</a:t>
              </a:r>
              <a:endParaRPr lang="ko-KR" altLang="en-US" sz="1500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6589D17-F539-461C-842A-76B1EC9B7670}"/>
                </a:ext>
              </a:extLst>
            </p:cNvPr>
            <p:cNvSpPr txBox="1"/>
            <p:nvPr/>
          </p:nvSpPr>
          <p:spPr>
            <a:xfrm>
              <a:off x="8790524" y="3367702"/>
              <a:ext cx="83709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500" dirty="0">
                  <a:solidFill>
                    <a:srgbClr val="001B36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</a:rPr>
                <a:t>40kg</a:t>
              </a:r>
              <a:endParaRPr lang="ko-KR" altLang="en-US" sz="1500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3BB50EF-B82D-4ADB-9ACB-B544A2F9609F}"/>
                </a:ext>
              </a:extLst>
            </p:cNvPr>
            <p:cNvSpPr txBox="1"/>
            <p:nvPr/>
          </p:nvSpPr>
          <p:spPr>
            <a:xfrm>
              <a:off x="5469013" y="104331"/>
              <a:ext cx="83709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500" dirty="0">
                  <a:solidFill>
                    <a:srgbClr val="001B36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</a:rPr>
                <a:t>400kg</a:t>
              </a:r>
              <a:endParaRPr lang="ko-KR" altLang="en-US" sz="1500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endParaRP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E16A6A4E-45B3-400F-9959-946C3D080322}"/>
              </a:ext>
            </a:extLst>
          </p:cNvPr>
          <p:cNvSpPr txBox="1"/>
          <p:nvPr/>
        </p:nvSpPr>
        <p:spPr>
          <a:xfrm>
            <a:off x="840424" y="4374804"/>
            <a:ext cx="9304656" cy="93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8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비행시 하중계수 </a:t>
            </a:r>
            <a:r>
              <a:rPr lang="en-US" altLang="ko-KR" sz="18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1.5G </a:t>
            </a:r>
            <a:r>
              <a:rPr lang="ko-KR" altLang="en-US" sz="18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가정 </a:t>
            </a:r>
            <a:r>
              <a:rPr lang="en-US" altLang="ko-KR" sz="18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: </a:t>
            </a:r>
            <a:r>
              <a:rPr lang="ko-KR" altLang="en-US" sz="18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전체 추력 </a:t>
            </a:r>
            <a:r>
              <a:rPr lang="en-US" altLang="ko-KR" sz="18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600kg</a:t>
            </a:r>
            <a:r>
              <a:rPr lang="en-US" altLang="ko-KR" sz="1800" kern="0" spc="0" baseline="-2500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f</a:t>
            </a:r>
          </a:p>
          <a:p>
            <a:pPr marL="342900" marR="0" lvl="0" indent="-34290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sz="18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날개 </a:t>
            </a:r>
            <a:r>
              <a:rPr lang="en-US" altLang="ko-KR" sz="18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1</a:t>
            </a:r>
            <a:r>
              <a:rPr lang="ko-KR" altLang="en-US" sz="18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개당 </a:t>
            </a:r>
            <a:r>
              <a:rPr lang="ko-KR" altLang="en-US" sz="1800" kern="0" spc="0" dirty="0" err="1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최대추력</a:t>
            </a:r>
            <a:r>
              <a:rPr lang="ko-KR" altLang="en-US" sz="18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 </a:t>
            </a:r>
            <a:r>
              <a:rPr lang="en-US" altLang="ko-KR" sz="18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: 600kg</a:t>
            </a:r>
            <a:r>
              <a:rPr lang="en-US" altLang="ko-KR" sz="1800" kern="0" spc="0" baseline="-2500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f</a:t>
            </a:r>
            <a:r>
              <a:rPr lang="en-US" altLang="ko-KR" sz="18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/8 x 1.4 (</a:t>
            </a:r>
            <a:r>
              <a:rPr lang="ko-KR" altLang="en-US" sz="18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안전계수</a:t>
            </a:r>
            <a:r>
              <a:rPr lang="en-US" altLang="ko-KR" sz="18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) ~ </a:t>
            </a:r>
            <a:r>
              <a:rPr lang="ko-KR" altLang="en-US" sz="18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날개당 </a:t>
            </a:r>
            <a:r>
              <a:rPr lang="ko-KR" altLang="en-US" sz="1800" kern="0" spc="0" dirty="0" err="1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최대추력</a:t>
            </a:r>
            <a:r>
              <a:rPr lang="ko-KR" altLang="en-US" sz="18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 </a:t>
            </a:r>
            <a:r>
              <a:rPr lang="en-US" altLang="ko-KR" sz="1800" kern="0" spc="0" dirty="0">
                <a:solidFill>
                  <a:srgbClr val="000012"/>
                </a:solidFill>
                <a:effectLst/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1,000 N</a:t>
            </a:r>
            <a:endParaRPr lang="ko-KR" altLang="en-US" sz="1800" kern="0" spc="0" dirty="0">
              <a:solidFill>
                <a:srgbClr val="000012"/>
              </a:solidFill>
              <a:effectLst/>
              <a:latin typeface="나눔스퀘어라운드OTF ExtraBold" panose="020B0600000101010101" pitchFamily="34" charset="-127"/>
              <a:ea typeface="나눔스퀘어라운드OTF ExtraBold" panose="020B0600000101010101" pitchFamily="34" charset="-127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BC2BE56-AD05-4E84-85E8-9E184ACFFD42}"/>
              </a:ext>
            </a:extLst>
          </p:cNvPr>
          <p:cNvGrpSpPr/>
          <p:nvPr/>
        </p:nvGrpSpPr>
        <p:grpSpPr>
          <a:xfrm>
            <a:off x="8188075" y="4762449"/>
            <a:ext cx="4003925" cy="2082983"/>
            <a:chOff x="3953109" y="-25685"/>
            <a:chExt cx="7709860" cy="3422823"/>
          </a:xfrm>
        </p:grpSpPr>
        <p:pic>
          <p:nvPicPr>
            <p:cNvPr id="48" name="Picture 3">
              <a:extLst>
                <a:ext uri="{FF2B5EF4-FFF2-40B4-BE49-F238E27FC236}">
                  <a16:creationId xmlns:a16="http://schemas.microsoft.com/office/drawing/2014/main" id="{84EEE35E-83B1-4E40-BD61-E7C0571E6E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3109" y="-25685"/>
              <a:ext cx="7709860" cy="34228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1DC4987-38D2-4323-B9BE-D294C3BCF897}"/>
                </a:ext>
              </a:extLst>
            </p:cNvPr>
            <p:cNvSpPr/>
            <p:nvPr/>
          </p:nvSpPr>
          <p:spPr>
            <a:xfrm>
              <a:off x="8455058" y="2018736"/>
              <a:ext cx="561051" cy="150723"/>
            </a:xfrm>
            <a:prstGeom prst="rect">
              <a:avLst/>
            </a:prstGeom>
            <a:solidFill>
              <a:srgbClr val="A49C83"/>
            </a:solidFill>
            <a:ln>
              <a:solidFill>
                <a:srgbClr val="A49D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3EE449ED-9F37-4F77-A9AE-BB396C722298}"/>
                </a:ext>
              </a:extLst>
            </p:cNvPr>
            <p:cNvSpPr/>
            <p:nvPr/>
          </p:nvSpPr>
          <p:spPr>
            <a:xfrm>
              <a:off x="9312705" y="1796333"/>
              <a:ext cx="561051" cy="222403"/>
            </a:xfrm>
            <a:prstGeom prst="rect">
              <a:avLst/>
            </a:prstGeom>
            <a:solidFill>
              <a:srgbClr val="A49C83"/>
            </a:solidFill>
            <a:ln>
              <a:solidFill>
                <a:srgbClr val="A49D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E9DDAC2-E6E4-49E4-B13A-530C2E27A891}"/>
              </a:ext>
            </a:extLst>
          </p:cNvPr>
          <p:cNvSpPr/>
          <p:nvPr/>
        </p:nvSpPr>
        <p:spPr>
          <a:xfrm>
            <a:off x="0" y="6642847"/>
            <a:ext cx="12192000" cy="215140"/>
          </a:xfrm>
          <a:prstGeom prst="rect">
            <a:avLst/>
          </a:prstGeom>
          <a:solidFill>
            <a:srgbClr val="001B36"/>
          </a:solidFill>
          <a:ln>
            <a:solidFill>
              <a:srgbClr val="0000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25A144B-9472-4647-A19D-AF8932485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DC34-FB4C-41F8-BE4F-4E4AB683C1E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485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3640EE8-6E7B-43C5-8E38-C5A6FA7DF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009843"/>
              </p:ext>
            </p:extLst>
          </p:nvPr>
        </p:nvGraphicFramePr>
        <p:xfrm>
          <a:off x="517109" y="1578702"/>
          <a:ext cx="11157781" cy="3700596"/>
        </p:xfrm>
        <a:graphic>
          <a:graphicData uri="http://schemas.openxmlformats.org/drawingml/2006/table">
            <a:tbl>
              <a:tblPr/>
              <a:tblGrid>
                <a:gridCol w="1355948">
                  <a:extLst>
                    <a:ext uri="{9D8B030D-6E8A-4147-A177-3AD203B41FA5}">
                      <a16:colId xmlns:a16="http://schemas.microsoft.com/office/drawing/2014/main" val="3242202992"/>
                    </a:ext>
                  </a:extLst>
                </a:gridCol>
                <a:gridCol w="1300375">
                  <a:extLst>
                    <a:ext uri="{9D8B030D-6E8A-4147-A177-3AD203B41FA5}">
                      <a16:colId xmlns:a16="http://schemas.microsoft.com/office/drawing/2014/main" val="2326677822"/>
                    </a:ext>
                  </a:extLst>
                </a:gridCol>
                <a:gridCol w="1004124">
                  <a:extLst>
                    <a:ext uri="{9D8B030D-6E8A-4147-A177-3AD203B41FA5}">
                      <a16:colId xmlns:a16="http://schemas.microsoft.com/office/drawing/2014/main" val="2258793353"/>
                    </a:ext>
                  </a:extLst>
                </a:gridCol>
                <a:gridCol w="1161189">
                  <a:extLst>
                    <a:ext uri="{9D8B030D-6E8A-4147-A177-3AD203B41FA5}">
                      <a16:colId xmlns:a16="http://schemas.microsoft.com/office/drawing/2014/main" val="3222498864"/>
                    </a:ext>
                  </a:extLst>
                </a:gridCol>
                <a:gridCol w="1542473">
                  <a:extLst>
                    <a:ext uri="{9D8B030D-6E8A-4147-A177-3AD203B41FA5}">
                      <a16:colId xmlns:a16="http://schemas.microsoft.com/office/drawing/2014/main" val="1077765069"/>
                    </a:ext>
                  </a:extLst>
                </a:gridCol>
                <a:gridCol w="1364182">
                  <a:extLst>
                    <a:ext uri="{9D8B030D-6E8A-4147-A177-3AD203B41FA5}">
                      <a16:colId xmlns:a16="http://schemas.microsoft.com/office/drawing/2014/main" val="3509124823"/>
                    </a:ext>
                  </a:extLst>
                </a:gridCol>
                <a:gridCol w="1714745">
                  <a:extLst>
                    <a:ext uri="{9D8B030D-6E8A-4147-A177-3AD203B41FA5}">
                      <a16:colId xmlns:a16="http://schemas.microsoft.com/office/drawing/2014/main" val="1575088690"/>
                    </a:ext>
                  </a:extLst>
                </a:gridCol>
                <a:gridCol w="1714745">
                  <a:extLst>
                    <a:ext uri="{9D8B030D-6E8A-4147-A177-3AD203B41FA5}">
                      <a16:colId xmlns:a16="http://schemas.microsoft.com/office/drawing/2014/main" val="662220306"/>
                    </a:ext>
                  </a:extLst>
                </a:gridCol>
              </a:tblGrid>
              <a:tr h="455993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구분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평가 항목</a:t>
                      </a:r>
                    </a:p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주요성능</a:t>
                      </a:r>
                      <a:r>
                        <a:rPr lang="en-US" altLang="ko-KR" sz="1200" kern="0" spc="-10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단위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전체 항목에서 </a:t>
                      </a:r>
                      <a:endParaRPr lang="en-US" altLang="ko-KR" sz="1200" kern="0" spc="-10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차지하는 비중</a:t>
                      </a:r>
                      <a:r>
                        <a:rPr lang="en-US" altLang="ko-KR" sz="1200" kern="0" spc="-100" baseline="3000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2</a:t>
                      </a:r>
                      <a:r>
                        <a:rPr lang="ko-KR" altLang="en-US" sz="1200" kern="0" spc="-100" baseline="3000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」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(%)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세계 최고수준 보유국</a:t>
                      </a:r>
                    </a:p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/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보유기관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연구개발 전</a:t>
                      </a:r>
                    </a:p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국내 수준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연구개발 목표치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목표 설정</a:t>
                      </a:r>
                    </a:p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근거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627237"/>
                  </a:ext>
                </a:extLst>
              </a:tr>
              <a:tr h="1639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성능수준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성능수준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892406"/>
                  </a:ext>
                </a:extLst>
              </a:tr>
              <a:tr h="309966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프로펠러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소음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고도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150m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기준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l"/>
                        </a:tabLs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dB</a:t>
                      </a:r>
                      <a:r>
                        <a:rPr lang="en-US" sz="1200" kern="0" spc="0" baseline="-2500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A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12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62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80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60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이하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미국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/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Kitty Hawk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2027293"/>
                  </a:ext>
                </a:extLst>
              </a:tr>
              <a:tr h="1639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최대 추력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l"/>
                        </a:tabLs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N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12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700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600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1,000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이상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PAV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요구사항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9939434"/>
                  </a:ext>
                </a:extLst>
              </a:tr>
              <a:tr h="1639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최대효율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l"/>
                        </a:tabLs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%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10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80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68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75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이상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PAV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요구사항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2790223"/>
                  </a:ext>
                </a:extLst>
              </a:tr>
              <a:tr h="163940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모터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최대출력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l"/>
                        </a:tabLs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kW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13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25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20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25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이상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PAV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요구사항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766423"/>
                  </a:ext>
                </a:extLst>
              </a:tr>
              <a:tr h="1639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최대효율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l"/>
                        </a:tabLs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%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10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90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85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92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이상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중국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/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T-motor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858619"/>
                  </a:ext>
                </a:extLst>
              </a:tr>
              <a:tr h="1639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비출력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l"/>
                        </a:tabLs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kW/kg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10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4.16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4.0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4.3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이상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독일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/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Simens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971831"/>
                  </a:ext>
                </a:extLst>
              </a:tr>
              <a:tr h="163940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인버터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최대출력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l"/>
                        </a:tabLs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kW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7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25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15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25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이상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PAV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요구사항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2119384"/>
                  </a:ext>
                </a:extLst>
              </a:tr>
              <a:tr h="1639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최대효율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l"/>
                        </a:tabLs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%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10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98(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지멘스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94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95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이상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PAV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요구사항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003185"/>
                  </a:ext>
                </a:extLst>
              </a:tr>
              <a:tr h="1639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비출력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l"/>
                        </a:tabLs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kVA/kg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10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15(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지멘스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나눔스퀘어라운드OTF Bold" panose="020B0600000101010101" pitchFamily="34" charset="-127"/>
                        <a:ea typeface="나눔스퀘어라운드OTF Bold" panose="020B0600000101010101" pitchFamily="34" charset="-127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10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15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이상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PAV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요구사항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7806326"/>
                  </a:ext>
                </a:extLst>
              </a:tr>
              <a:tr h="1639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내환경성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l"/>
                        </a:tabLs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-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3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-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-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DO-160G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만족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PAV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요구사항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2419946"/>
                  </a:ext>
                </a:extLst>
              </a:tr>
              <a:tr h="1639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고장감지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l"/>
                        </a:tabLs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개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3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-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-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635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5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개 이상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선진업체동등수준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나눔스퀘어라운드OTF Bold" panose="020B0600000101010101" pitchFamily="34" charset="-127"/>
                          <a:ea typeface="나눔스퀘어라운드OTF Bold" panose="020B0600000101010101" pitchFamily="34" charset="-127"/>
                        </a:rPr>
                        <a:t> 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4056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D8FBB64-2197-47C6-8879-0056A044B28F}"/>
              </a:ext>
            </a:extLst>
          </p:cNvPr>
          <p:cNvSpPr txBox="1"/>
          <p:nvPr/>
        </p:nvSpPr>
        <p:spPr>
          <a:xfrm>
            <a:off x="174814" y="173922"/>
            <a:ext cx="3688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개발 결과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2607C37-26B0-41F9-AAA3-BD951724452E}"/>
              </a:ext>
            </a:extLst>
          </p:cNvPr>
          <p:cNvSpPr/>
          <p:nvPr/>
        </p:nvSpPr>
        <p:spPr>
          <a:xfrm>
            <a:off x="0" y="6642847"/>
            <a:ext cx="12192000" cy="215140"/>
          </a:xfrm>
          <a:prstGeom prst="rect">
            <a:avLst/>
          </a:prstGeom>
          <a:solidFill>
            <a:srgbClr val="001B36"/>
          </a:solidFill>
          <a:ln>
            <a:solidFill>
              <a:srgbClr val="0000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469E11-0BB5-4480-BD2A-36FBA5286D05}"/>
              </a:ext>
            </a:extLst>
          </p:cNvPr>
          <p:cNvSpPr txBox="1"/>
          <p:nvPr/>
        </p:nvSpPr>
        <p:spPr>
          <a:xfrm>
            <a:off x="517109" y="1231473"/>
            <a:ext cx="105253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TRL 5 (</a:t>
            </a:r>
            <a:r>
              <a:rPr lang="ko-KR" altLang="en-US" sz="1400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유사환경 </a:t>
            </a:r>
            <a:r>
              <a:rPr lang="ko-KR" altLang="en-US" sz="1400" dirty="0" err="1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워킹모델</a:t>
            </a:r>
            <a:r>
              <a:rPr lang="ko-KR" altLang="en-US" sz="1400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 검증</a:t>
            </a:r>
            <a:r>
              <a:rPr lang="en-US" altLang="ko-KR" sz="1400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) </a:t>
            </a:r>
            <a:r>
              <a:rPr lang="en-US" altLang="ko-KR" sz="1400" dirty="0">
                <a:solidFill>
                  <a:srgbClr val="001B36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→</a:t>
            </a:r>
            <a:r>
              <a:rPr lang="en-US" altLang="ko-KR" sz="1400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 TRL 8 (</a:t>
            </a:r>
            <a:r>
              <a:rPr lang="ko-KR" altLang="en-US" sz="1400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상용제품 시험 평가 및 신뢰성 검증</a:t>
            </a:r>
            <a:r>
              <a:rPr lang="en-US" altLang="ko-KR" sz="1400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)</a:t>
            </a:r>
            <a:endParaRPr lang="ko-KR" altLang="en-US" sz="1400" dirty="0">
              <a:solidFill>
                <a:srgbClr val="001B36"/>
              </a:solidFill>
              <a:latin typeface="나눔스퀘어라운드OTF ExtraBold" panose="020B0600000101010101" pitchFamily="34" charset="-127"/>
              <a:ea typeface="나눔스퀘어라운드OTF ExtraBold" panose="020B0600000101010101" pitchFamily="34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CDA763D-995E-4FDF-BB93-FEA6FCE34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DC34-FB4C-41F8-BE4F-4E4AB683C1E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400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3544CE-2FF7-472D-9E99-E2360D91CF97}"/>
              </a:ext>
            </a:extLst>
          </p:cNvPr>
          <p:cNvSpPr txBox="1"/>
          <p:nvPr/>
        </p:nvSpPr>
        <p:spPr>
          <a:xfrm>
            <a:off x="174814" y="173922"/>
            <a:ext cx="3688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001B36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적용분야 및 용도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5963886-B417-4BA3-919D-38F10EEABE79}"/>
              </a:ext>
            </a:extLst>
          </p:cNvPr>
          <p:cNvSpPr/>
          <p:nvPr/>
        </p:nvSpPr>
        <p:spPr>
          <a:xfrm>
            <a:off x="0" y="6642847"/>
            <a:ext cx="12192000" cy="215140"/>
          </a:xfrm>
          <a:prstGeom prst="rect">
            <a:avLst/>
          </a:prstGeom>
          <a:solidFill>
            <a:srgbClr val="001B36"/>
          </a:solidFill>
          <a:ln>
            <a:solidFill>
              <a:srgbClr val="0000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D0A0A5-1A98-46F6-868C-27E0BD84C265}"/>
              </a:ext>
            </a:extLst>
          </p:cNvPr>
          <p:cNvSpPr txBox="1"/>
          <p:nvPr/>
        </p:nvSpPr>
        <p:spPr>
          <a:xfrm>
            <a:off x="408043" y="1389339"/>
            <a:ext cx="10851774" cy="4712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kern="0" spc="0" dirty="0">
                <a:solidFill>
                  <a:srgbClr val="000000"/>
                </a:solidFill>
                <a:effectLst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산업 분야 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: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의무용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,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보안 및 치안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,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운송업 등과 같은 광범위한 산업군에서 활용 가능</a:t>
            </a:r>
            <a:endParaRPr lang="en-US" altLang="ko-KR" kern="0" spc="0" dirty="0">
              <a:solidFill>
                <a:srgbClr val="000000"/>
              </a:solidFill>
              <a:effectLst/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  <a:p>
            <a:pPr marL="342900" marR="0" lvl="0" indent="-342900" algn="just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altLang="ko-KR" kern="0" spc="-100" dirty="0">
              <a:solidFill>
                <a:srgbClr val="000000"/>
              </a:solidFill>
              <a:effectLst/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  <a:p>
            <a:pPr marL="342900" marR="0" lvl="0" indent="-342900" algn="just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altLang="ko-KR" kern="0" spc="-100" dirty="0">
              <a:solidFill>
                <a:srgbClr val="000000"/>
              </a:solidFill>
              <a:effectLst/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  <a:p>
            <a:pPr marL="342900" marR="0" lvl="0" indent="-342900" algn="just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altLang="ko-KR" kern="0" spc="-100" dirty="0">
              <a:solidFill>
                <a:srgbClr val="000000"/>
              </a:solidFill>
              <a:effectLst/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  <a:p>
            <a:pPr marL="342900" marR="0" lvl="0" indent="-342900" algn="just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ko-KR" altLang="en-US" kern="0" spc="-100" dirty="0">
              <a:solidFill>
                <a:srgbClr val="000000"/>
              </a:solidFill>
              <a:effectLst/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  <a:p>
            <a:pPr marL="342900" marR="0" lvl="0" indent="-342900" algn="just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kern="0" spc="0" dirty="0">
                <a:solidFill>
                  <a:srgbClr val="000000"/>
                </a:solidFill>
                <a:effectLst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군수 분야 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: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군 적지 침투나 단거리 이동 시 기존의 헬기는 크기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,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중량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,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소음 면에서 </a:t>
            </a:r>
            <a:endParaRPr lang="en-US" altLang="ko-KR" kern="0" spc="0" dirty="0">
              <a:solidFill>
                <a:srgbClr val="000000"/>
              </a:solidFill>
              <a:effectLst/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  <a:p>
            <a:pPr marR="0" lvl="0" algn="just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kern="0" spc="0" dirty="0">
                <a:solidFill>
                  <a:srgbClr val="000000"/>
                </a:solidFill>
                <a:effectLst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                        한계가 있어 침투수단 및 이동수단으로 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PAV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가 용이</a:t>
            </a:r>
            <a:endParaRPr lang="en-US" altLang="ko-KR" kern="0" spc="0" dirty="0">
              <a:solidFill>
                <a:srgbClr val="000000"/>
              </a:solidFill>
              <a:effectLst/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  <a:p>
            <a:pPr marL="342900" marR="0" lvl="0" indent="-342900" algn="just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altLang="ko-KR" kern="0" spc="-100" dirty="0">
              <a:solidFill>
                <a:srgbClr val="000000"/>
              </a:solidFill>
              <a:effectLst/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  <a:p>
            <a:pPr marL="342900" marR="0" lvl="0" indent="-342900" algn="just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altLang="ko-KR" kern="0" spc="-100" dirty="0">
              <a:solidFill>
                <a:srgbClr val="000000"/>
              </a:solidFill>
              <a:effectLst/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  <a:p>
            <a:pPr marL="342900" marR="0" lvl="0" indent="-342900" algn="just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US" altLang="ko-KR" kern="0" spc="-100" dirty="0">
              <a:solidFill>
                <a:srgbClr val="000000"/>
              </a:solidFill>
              <a:effectLst/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  <a:p>
            <a:pPr marL="342900" marR="0" lvl="0" indent="-342900" algn="just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ko-KR" altLang="en-US" kern="0" spc="-100" dirty="0">
              <a:solidFill>
                <a:srgbClr val="000000"/>
              </a:solidFill>
              <a:effectLst/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  <a:p>
            <a:pPr marL="342900" marR="0" lvl="0" indent="-342900" algn="just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kern="0" spc="0" dirty="0">
                <a:solidFill>
                  <a:srgbClr val="000000"/>
                </a:solidFill>
                <a:effectLst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민간 분야 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: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개인용 이동수단부터 서비스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,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관광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,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rPr>
              <a:t>오락 용도 등 상업용으로도 용이</a:t>
            </a:r>
            <a:endParaRPr lang="ko-KR" altLang="en-US" kern="0" spc="-100" dirty="0">
              <a:solidFill>
                <a:srgbClr val="000000"/>
              </a:solidFill>
              <a:effectLst/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D3D5CAB-2B70-4A03-8D36-720B8D71B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1678" y="1057260"/>
            <a:ext cx="2700000" cy="108552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90D7114-F7A3-4809-B781-29CDE2BDC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1678" y="2295380"/>
            <a:ext cx="2700000" cy="21037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9B6604A-9380-4700-8518-BED8ECB7C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1678" y="4727052"/>
            <a:ext cx="2700000" cy="1587873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19BEF08-EECA-4220-93AA-BEBA6B7CD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5DC34-FB4C-41F8-BE4F-4E4AB683C1E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460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3F5877B-98C7-49DD-83AB-0F6F57CB6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D7380E6-860D-42FF-2D89-D22A9ACEFB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13" r="15688"/>
          <a:stretch>
            <a:fillRect/>
          </a:stretch>
        </p:blipFill>
        <p:spPr>
          <a:xfrm>
            <a:off x="7364078" y="-18"/>
            <a:ext cx="4827922" cy="6857999"/>
          </a:xfrm>
          <a:custGeom>
            <a:avLst/>
            <a:gdLst/>
            <a:ahLst/>
            <a:cxnLst/>
            <a:rect l="l" t="t" r="r" b="b"/>
            <a:pathLst>
              <a:path w="4827922" h="6858000">
                <a:moveTo>
                  <a:pt x="4441" y="0"/>
                </a:moveTo>
                <a:lnTo>
                  <a:pt x="4827922" y="0"/>
                </a:lnTo>
                <a:lnTo>
                  <a:pt x="4827922" y="6858000"/>
                </a:lnTo>
                <a:lnTo>
                  <a:pt x="0" y="6858000"/>
                </a:lnTo>
                <a:lnTo>
                  <a:pt x="106674" y="6638378"/>
                </a:lnTo>
                <a:cubicBezTo>
                  <a:pt x="530028" y="5720938"/>
                  <a:pt x="777229" y="4614948"/>
                  <a:pt x="777229" y="3424428"/>
                </a:cubicBezTo>
                <a:cubicBezTo>
                  <a:pt x="777229" y="2233909"/>
                  <a:pt x="530028" y="1127919"/>
                  <a:pt x="106674" y="210478"/>
                </a:cubicBezTo>
                <a:close/>
              </a:path>
            </a:pathLst>
          </a:cu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65E711F-0A02-F51A-B0DC-F16F50D5D8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44" r="18344"/>
          <a:stretch>
            <a:fillRect/>
          </a:stretch>
        </p:blipFill>
        <p:spPr>
          <a:xfrm>
            <a:off x="3119360" y="18"/>
            <a:ext cx="4966290" cy="6857999"/>
          </a:xfrm>
          <a:custGeom>
            <a:avLst/>
            <a:gdLst/>
            <a:ahLst/>
            <a:cxnLst/>
            <a:rect l="l" t="t" r="r" b="b"/>
            <a:pathLst>
              <a:path w="4966290" h="6857999">
                <a:moveTo>
                  <a:pt x="0" y="0"/>
                </a:moveTo>
                <a:lnTo>
                  <a:pt x="4188230" y="0"/>
                </a:lnTo>
                <a:lnTo>
                  <a:pt x="4295735" y="210478"/>
                </a:lnTo>
                <a:cubicBezTo>
                  <a:pt x="4719089" y="1127919"/>
                  <a:pt x="4966290" y="2233909"/>
                  <a:pt x="4966290" y="3424428"/>
                </a:cubicBezTo>
                <a:cubicBezTo>
                  <a:pt x="4966290" y="4614948"/>
                  <a:pt x="4719089" y="5720938"/>
                  <a:pt x="4295735" y="6638378"/>
                </a:cubicBezTo>
                <a:lnTo>
                  <a:pt x="4183560" y="6857999"/>
                </a:lnTo>
                <a:lnTo>
                  <a:pt x="53039" y="6857999"/>
                </a:lnTo>
                <a:lnTo>
                  <a:pt x="132047" y="6695338"/>
                </a:lnTo>
                <a:cubicBezTo>
                  <a:pt x="555401" y="5777898"/>
                  <a:pt x="802602" y="4671908"/>
                  <a:pt x="802602" y="3481388"/>
                </a:cubicBezTo>
                <a:cubicBezTo>
                  <a:pt x="802602" y="2191659"/>
                  <a:pt x="512484" y="1001134"/>
                  <a:pt x="22579" y="42066"/>
                </a:cubicBezTo>
                <a:close/>
              </a:path>
            </a:pathLst>
          </a:custGeom>
        </p:spPr>
      </p:pic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4EA91930-66BC-4C41-B4F5-C31EB216F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6313CF8F-B436-401E-9575-DE0F8E8B5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38CFE9-C30A-4551-ACCB-D5808FBC3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16867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EF550F-47CE-4FB2-9DAC-12AD835C8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089941"/>
            <a:ext cx="2834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C929D6-3413-FBB2-52A2-387FACFD709D}"/>
              </a:ext>
            </a:extLst>
          </p:cNvPr>
          <p:cNvSpPr txBox="1"/>
          <p:nvPr/>
        </p:nvSpPr>
        <p:spPr>
          <a:xfrm>
            <a:off x="448056" y="2258171"/>
            <a:ext cx="2804504" cy="3918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/>
              <a:t>실   증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DB911A5-275E-0D18-8ADE-BBB568D48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9888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9225DC34-FB4C-41F8-BE4F-4E4AB683C1EF}" type="slidenum">
              <a:rPr lang="en-US" altLang="ko-KR">
                <a:solidFill>
                  <a:schemeClr val="bg1"/>
                </a:solidFill>
              </a:rPr>
              <a:pPr latinLnBrk="0">
                <a:spcAft>
                  <a:spcPts val="600"/>
                </a:spcAft>
              </a:pPr>
              <a:t>9</a:t>
            </a:fld>
            <a:endParaRPr lang="en-US" altLang="ko-K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818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9035</TotalTime>
  <Words>930</Words>
  <Application>Microsoft Office PowerPoint</Application>
  <PresentationFormat>와이드스크린</PresentationFormat>
  <Paragraphs>300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굴림</vt:lpstr>
      <vt:lpstr>Calibri</vt:lpstr>
      <vt:lpstr>Arial</vt:lpstr>
      <vt:lpstr>맑은 고딕</vt:lpstr>
      <vt:lpstr>나눔스퀘어라운드OTF Bold</vt:lpstr>
      <vt:lpstr>나눔스퀘어라운드OTF ExtraBold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안지수</dc:creator>
  <cp:lastModifiedBy>이승배</cp:lastModifiedBy>
  <cp:revision>367</cp:revision>
  <dcterms:created xsi:type="dcterms:W3CDTF">2021-12-14T04:15:52Z</dcterms:created>
  <dcterms:modified xsi:type="dcterms:W3CDTF">2026-08-26T08:12:45Z</dcterms:modified>
</cp:coreProperties>
</file>